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</p:sldIdLst>
  <p:sldSz cx="9753600" cy="7315200"/>
  <p:notesSz cx="6858000" cy="9144000"/>
  <p:embeddedFontLst>
    <p:embeddedFont>
      <p:font typeface="Calibri (MS)" panose="020B0604020202020204" charset="0"/>
      <p:regular r:id="rId21"/>
    </p:embeddedFont>
    <p:embeddedFont>
      <p:font typeface="TT Rounds Condensed" panose="020B0604020202020204" charset="0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3" d="100"/>
          <a:sy n="73" d="100"/>
        </p:scale>
        <p:origin x="1598" y="6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1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2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79120" y="1571625"/>
            <a:ext cx="8595360" cy="49172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47"/>
              </a:lnSpc>
            </a:pPr>
            <a:r>
              <a:rPr lang="en-US" sz="238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Team Members</a:t>
            </a:r>
          </a:p>
          <a:p>
            <a:pPr algn="ctr">
              <a:lnSpc>
                <a:spcPts val="4147"/>
              </a:lnSpc>
            </a:pPr>
            <a:r>
              <a:rPr lang="en-US" sz="238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Nick Correia-10</a:t>
            </a:r>
          </a:p>
          <a:p>
            <a:pPr algn="ctr">
              <a:lnSpc>
                <a:spcPts val="4147"/>
              </a:lnSpc>
            </a:pPr>
            <a:r>
              <a:rPr lang="en-US" sz="238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Rishon Dabre-14</a:t>
            </a:r>
          </a:p>
          <a:p>
            <a:pPr algn="ctr">
              <a:lnSpc>
                <a:spcPts val="4147"/>
              </a:lnSpc>
            </a:pPr>
            <a:r>
              <a:rPr lang="en-US" sz="238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Royce Dias-17</a:t>
            </a:r>
          </a:p>
          <a:p>
            <a:pPr algn="ctr">
              <a:lnSpc>
                <a:spcPts val="4147"/>
              </a:lnSpc>
            </a:pPr>
            <a:r>
              <a:rPr lang="en-US" sz="238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Raul Dmonty-18</a:t>
            </a:r>
          </a:p>
          <a:p>
            <a:pPr algn="ctr">
              <a:lnSpc>
                <a:spcPts val="4147"/>
              </a:lnSpc>
            </a:pPr>
            <a:r>
              <a:rPr lang="en-US" sz="238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Course Name: ML Mini Project</a:t>
            </a:r>
          </a:p>
          <a:p>
            <a:pPr algn="l">
              <a:lnSpc>
                <a:spcPts val="4147"/>
              </a:lnSpc>
            </a:pPr>
            <a:endParaRPr lang="en-US" sz="2389">
              <a:solidFill>
                <a:srgbClr val="000000"/>
              </a:solidFill>
              <a:latin typeface="Calibri (MS)"/>
              <a:ea typeface="Calibri (MS)"/>
              <a:cs typeface="Calibri (MS)"/>
              <a:sym typeface="Calibri (MS)"/>
            </a:endParaRPr>
          </a:p>
          <a:p>
            <a:pPr algn="l">
              <a:lnSpc>
                <a:spcPts val="4147"/>
              </a:lnSpc>
            </a:pPr>
            <a:r>
              <a:rPr lang="en-US" sz="238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Guide Name: Prof Joanne Gomes          Institute Name: SFIT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487680" y="292951"/>
            <a:ext cx="8778240" cy="1219200"/>
            <a:chOff x="0" y="0"/>
            <a:chExt cx="11704320" cy="16256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1704320" cy="1625600"/>
            </a:xfrm>
            <a:custGeom>
              <a:avLst/>
              <a:gdLst/>
              <a:ahLst/>
              <a:cxnLst/>
              <a:rect l="l" t="t" r="r" b="b"/>
              <a:pathLst>
                <a:path w="11704320" h="1625600">
                  <a:moveTo>
                    <a:pt x="0" y="0"/>
                  </a:moveTo>
                  <a:lnTo>
                    <a:pt x="11704320" y="0"/>
                  </a:lnTo>
                  <a:lnTo>
                    <a:pt x="11704320" y="1625600"/>
                  </a:lnTo>
                  <a:lnTo>
                    <a:pt x="0" y="1625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90292" b="-90292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9525"/>
              <a:ext cx="11704320" cy="16351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4608"/>
                </a:lnSpc>
              </a:pPr>
              <a:r>
                <a:rPr lang="en-US" sz="3840" spc="-38">
                  <a:solidFill>
                    <a:srgbClr val="000000"/>
                  </a:solidFill>
                  <a:latin typeface="TT Rounds Condensed"/>
                  <a:ea typeface="TT Rounds Condensed"/>
                  <a:cs typeface="TT Rounds Condensed"/>
                  <a:sym typeface="TT Rounds Condensed"/>
                </a:rPr>
                <a:t>Crime Prediction &amp; Hotspot Analyzer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571464" y="291922"/>
            <a:ext cx="4610672" cy="6012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95"/>
              </a:lnSpc>
            </a:pPr>
            <a:r>
              <a:rPr lang="en-US" sz="3413" spc="-1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Problem Statement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567513" y="955584"/>
            <a:ext cx="8184209" cy="6524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1"/>
              </a:lnSpc>
            </a:pPr>
            <a:r>
              <a:rPr lang="en-US" sz="255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🔹 Problem Statement</a:t>
            </a:r>
          </a:p>
          <a:p>
            <a:pPr marL="552703" lvl="1" indent="-276352" algn="l">
              <a:lnSpc>
                <a:spcPts val="3071"/>
              </a:lnSpc>
              <a:buFont typeface="Arial"/>
              <a:buChar char="•"/>
            </a:pPr>
            <a:r>
              <a:rPr lang="en-US" sz="255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Manual crime analysis is slow &amp; difficult</a:t>
            </a:r>
          </a:p>
          <a:p>
            <a:pPr marL="552703" lvl="1" indent="-276352" algn="l">
              <a:lnSpc>
                <a:spcPts val="3071"/>
              </a:lnSpc>
              <a:buFont typeface="Arial"/>
              <a:buChar char="•"/>
            </a:pPr>
            <a:r>
              <a:rPr lang="en-US" sz="255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Large crime data needs automation</a:t>
            </a:r>
          </a:p>
          <a:p>
            <a:pPr algn="l">
              <a:lnSpc>
                <a:spcPts val="3071"/>
              </a:lnSpc>
            </a:pPr>
            <a:endParaRPr lang="en-US" sz="2559">
              <a:solidFill>
                <a:srgbClr val="000000"/>
              </a:solidFill>
              <a:latin typeface="Calibri (MS)"/>
              <a:ea typeface="Calibri (MS)"/>
              <a:cs typeface="Calibri (MS)"/>
              <a:sym typeface="Calibri (MS)"/>
            </a:endParaRPr>
          </a:p>
          <a:p>
            <a:pPr algn="l">
              <a:lnSpc>
                <a:spcPts val="3071"/>
              </a:lnSpc>
            </a:pPr>
            <a:r>
              <a:rPr lang="en-US" sz="255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🔹 Objectives</a:t>
            </a:r>
          </a:p>
          <a:p>
            <a:pPr marL="552703" lvl="1" indent="-276352" algn="l">
              <a:lnSpc>
                <a:spcPts val="3071"/>
              </a:lnSpc>
              <a:buFont typeface="Arial"/>
              <a:buChar char="•"/>
            </a:pPr>
            <a:r>
              <a:rPr lang="en-US" sz="255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Predict crime using ML</a:t>
            </a:r>
          </a:p>
          <a:p>
            <a:pPr marL="552703" lvl="1" indent="-276352" algn="l">
              <a:lnSpc>
                <a:spcPts val="3071"/>
              </a:lnSpc>
              <a:buFont typeface="Arial"/>
              <a:buChar char="•"/>
            </a:pPr>
            <a:r>
              <a:rPr lang="en-US" sz="255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Identify crime hotspots</a:t>
            </a:r>
          </a:p>
          <a:p>
            <a:pPr marL="552703" lvl="1" indent="-276352" algn="l">
              <a:lnSpc>
                <a:spcPts val="3071"/>
              </a:lnSpc>
              <a:buFont typeface="Arial"/>
              <a:buChar char="•"/>
            </a:pPr>
            <a:r>
              <a:rPr lang="en-US" sz="255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Improve accuracy with preprocessing</a:t>
            </a:r>
          </a:p>
          <a:p>
            <a:pPr marL="552703" lvl="1" indent="-276352" algn="l">
              <a:lnSpc>
                <a:spcPts val="3071"/>
              </a:lnSpc>
              <a:buFont typeface="Arial"/>
              <a:buChar char="•"/>
            </a:pPr>
            <a:endParaRPr lang="en-US" sz="2559">
              <a:solidFill>
                <a:srgbClr val="000000"/>
              </a:solidFill>
              <a:latin typeface="Calibri (MS)"/>
              <a:ea typeface="Calibri (MS)"/>
              <a:cs typeface="Calibri (MS)"/>
              <a:sym typeface="Calibri (MS)"/>
            </a:endParaRPr>
          </a:p>
          <a:p>
            <a:pPr algn="l">
              <a:lnSpc>
                <a:spcPts val="3071"/>
              </a:lnSpc>
            </a:pPr>
            <a:r>
              <a:rPr lang="en-US" sz="255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🔹 SDG Mapping</a:t>
            </a:r>
          </a:p>
          <a:p>
            <a:pPr marL="552703" lvl="1" indent="-276352" algn="l">
              <a:lnSpc>
                <a:spcPts val="3071"/>
              </a:lnSpc>
              <a:buFont typeface="Arial"/>
              <a:buChar char="•"/>
            </a:pPr>
            <a:r>
              <a:rPr lang="en-US" sz="255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SDG 11 – Safe &amp; sustainable cities</a:t>
            </a:r>
          </a:p>
          <a:p>
            <a:pPr marL="552703" lvl="1" indent="-276352" algn="l">
              <a:lnSpc>
                <a:spcPts val="3071"/>
              </a:lnSpc>
              <a:buFont typeface="Arial"/>
              <a:buChar char="•"/>
            </a:pPr>
            <a:r>
              <a:rPr lang="en-US" sz="255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SDG 16 – Peace &amp; justice</a:t>
            </a:r>
          </a:p>
          <a:p>
            <a:pPr marL="552703" lvl="1" indent="-276352" algn="l">
              <a:lnSpc>
                <a:spcPts val="3071"/>
              </a:lnSpc>
              <a:buFont typeface="Arial"/>
              <a:buChar char="•"/>
            </a:pPr>
            <a:endParaRPr lang="en-US" sz="2559">
              <a:solidFill>
                <a:srgbClr val="000000"/>
              </a:solidFill>
              <a:latin typeface="Calibri (MS)"/>
              <a:ea typeface="Calibri (MS)"/>
              <a:cs typeface="Calibri (MS)"/>
              <a:sym typeface="Calibri (MS)"/>
            </a:endParaRPr>
          </a:p>
          <a:p>
            <a:pPr algn="l">
              <a:lnSpc>
                <a:spcPts val="3071"/>
              </a:lnSpc>
            </a:pPr>
            <a:r>
              <a:rPr lang="en-US" sz="255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🔹 Usefulness to Society</a:t>
            </a:r>
          </a:p>
          <a:p>
            <a:pPr marL="552703" lvl="1" indent="-276352" algn="l">
              <a:lnSpc>
                <a:spcPts val="3071"/>
              </a:lnSpc>
              <a:buFont typeface="Arial"/>
              <a:buChar char="•"/>
            </a:pPr>
            <a:r>
              <a:rPr lang="en-US" sz="255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Improves public safety</a:t>
            </a:r>
          </a:p>
          <a:p>
            <a:pPr marL="552703" lvl="1" indent="-276352" algn="l">
              <a:lnSpc>
                <a:spcPts val="3071"/>
              </a:lnSpc>
              <a:buFont typeface="Arial"/>
              <a:buChar char="•"/>
            </a:pPr>
            <a:r>
              <a:rPr lang="en-US" sz="255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Supports smart cities</a:t>
            </a:r>
          </a:p>
          <a:p>
            <a:pPr algn="l">
              <a:lnSpc>
                <a:spcPts val="3071"/>
              </a:lnSpc>
            </a:pPr>
            <a:endParaRPr lang="en-US" sz="2559">
              <a:solidFill>
                <a:srgbClr val="000000"/>
              </a:solidFill>
              <a:latin typeface="Calibri (MS)"/>
              <a:ea typeface="Calibri (MS)"/>
              <a:cs typeface="Calibri (MS)"/>
              <a:sym typeface="Calibri (MS)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152631" y="294829"/>
            <a:ext cx="3448336" cy="50988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095"/>
              </a:lnSpc>
            </a:pPr>
            <a:r>
              <a:rPr lang="en-US" sz="3413" spc="-21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Literature Summary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771564" y="1236568"/>
            <a:ext cx="6210471" cy="3847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71501" lvl="1" algn="l">
              <a:lnSpc>
                <a:spcPts val="3071"/>
              </a:lnSpc>
            </a:pPr>
            <a:r>
              <a:rPr lang="en-US" sz="2559" spc="-10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Literature Survey Summary (Examples given)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C66304E8-D276-FF9C-7585-849EB1614A9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70245678"/>
              </p:ext>
            </p:extLst>
          </p:nvPr>
        </p:nvGraphicFramePr>
        <p:xfrm>
          <a:off x="1239864" y="2008585"/>
          <a:ext cx="7273872" cy="454800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212312">
                  <a:extLst>
                    <a:ext uri="{9D8B030D-6E8A-4147-A177-3AD203B41FA5}">
                      <a16:colId xmlns:a16="http://schemas.microsoft.com/office/drawing/2014/main" val="769467829"/>
                    </a:ext>
                  </a:extLst>
                </a:gridCol>
                <a:gridCol w="1212312">
                  <a:extLst>
                    <a:ext uri="{9D8B030D-6E8A-4147-A177-3AD203B41FA5}">
                      <a16:colId xmlns:a16="http://schemas.microsoft.com/office/drawing/2014/main" val="2093135387"/>
                    </a:ext>
                  </a:extLst>
                </a:gridCol>
                <a:gridCol w="1212312">
                  <a:extLst>
                    <a:ext uri="{9D8B030D-6E8A-4147-A177-3AD203B41FA5}">
                      <a16:colId xmlns:a16="http://schemas.microsoft.com/office/drawing/2014/main" val="1999953872"/>
                    </a:ext>
                  </a:extLst>
                </a:gridCol>
                <a:gridCol w="1212312">
                  <a:extLst>
                    <a:ext uri="{9D8B030D-6E8A-4147-A177-3AD203B41FA5}">
                      <a16:colId xmlns:a16="http://schemas.microsoft.com/office/drawing/2014/main" val="2937002448"/>
                    </a:ext>
                  </a:extLst>
                </a:gridCol>
                <a:gridCol w="1212312">
                  <a:extLst>
                    <a:ext uri="{9D8B030D-6E8A-4147-A177-3AD203B41FA5}">
                      <a16:colId xmlns:a16="http://schemas.microsoft.com/office/drawing/2014/main" val="1894542165"/>
                    </a:ext>
                  </a:extLst>
                </a:gridCol>
                <a:gridCol w="1212312">
                  <a:extLst>
                    <a:ext uri="{9D8B030D-6E8A-4147-A177-3AD203B41FA5}">
                      <a16:colId xmlns:a16="http://schemas.microsoft.com/office/drawing/2014/main" val="1479472038"/>
                    </a:ext>
                  </a:extLst>
                </a:gridCol>
              </a:tblGrid>
              <a:tr h="323283">
                <a:tc>
                  <a:txBody>
                    <a:bodyPr/>
                    <a:lstStyle/>
                    <a:p>
                      <a:r>
                        <a:rPr lang="en-US" sz="1600"/>
                        <a:t>Ref</a:t>
                      </a:r>
                    </a:p>
                  </a:txBody>
                  <a:tcPr marL="80821" marR="80821" marT="40410" marB="40410"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Author</a:t>
                      </a:r>
                    </a:p>
                  </a:txBody>
                  <a:tcPr marL="80821" marR="80821" marT="40410" marB="40410"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Problem</a:t>
                      </a:r>
                    </a:p>
                  </a:txBody>
                  <a:tcPr marL="80821" marR="80821" marT="40410" marB="40410"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Dataset</a:t>
                      </a:r>
                    </a:p>
                  </a:txBody>
                  <a:tcPr marL="80821" marR="80821" marT="40410" marB="40410"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Method</a:t>
                      </a:r>
                    </a:p>
                  </a:txBody>
                  <a:tcPr marL="80821" marR="80821" marT="40410" marB="40410"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Features</a:t>
                      </a:r>
                    </a:p>
                  </a:txBody>
                  <a:tcPr marL="80821" marR="80821" marT="40410" marB="40410" anchor="ctr"/>
                </a:tc>
                <a:extLst>
                  <a:ext uri="{0D108BD9-81ED-4DB2-BD59-A6C34878D82A}">
                    <a16:rowId xmlns:a16="http://schemas.microsoft.com/office/drawing/2014/main" val="1981427745"/>
                  </a:ext>
                </a:extLst>
              </a:tr>
              <a:tr h="565745">
                <a:tc>
                  <a:txBody>
                    <a:bodyPr/>
                    <a:lstStyle/>
                    <a:p>
                      <a:r>
                        <a:rPr lang="en-US" sz="1600"/>
                        <a:t>[1]</a:t>
                      </a:r>
                    </a:p>
                  </a:txBody>
                  <a:tcPr marL="80821" marR="80821" marT="40410" marB="40410"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Smith, 2021</a:t>
                      </a:r>
                    </a:p>
                  </a:txBody>
                  <a:tcPr marL="80821" marR="80821" marT="40410" marB="40410"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Crime prediction</a:t>
                      </a:r>
                    </a:p>
                  </a:txBody>
                  <a:tcPr marL="80821" marR="80821" marT="40410" marB="40410"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Kaggle Crime Data</a:t>
                      </a:r>
                    </a:p>
                  </a:txBody>
                  <a:tcPr marL="80821" marR="80821" marT="40410" marB="40410"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Decision Tree</a:t>
                      </a:r>
                    </a:p>
                  </a:txBody>
                  <a:tcPr marL="80821" marR="80821" marT="40410" marB="40410"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Location, Time</a:t>
                      </a:r>
                    </a:p>
                  </a:txBody>
                  <a:tcPr marL="80821" marR="80821" marT="40410" marB="40410" anchor="ctr"/>
                </a:tc>
                <a:extLst>
                  <a:ext uri="{0D108BD9-81ED-4DB2-BD59-A6C34878D82A}">
                    <a16:rowId xmlns:a16="http://schemas.microsoft.com/office/drawing/2014/main" val="2644864800"/>
                  </a:ext>
                </a:extLst>
              </a:tr>
              <a:tr h="808208">
                <a:tc>
                  <a:txBody>
                    <a:bodyPr/>
                    <a:lstStyle/>
                    <a:p>
                      <a:r>
                        <a:rPr lang="en-US" sz="1600"/>
                        <a:t>[2]</a:t>
                      </a:r>
                    </a:p>
                  </a:txBody>
                  <a:tcPr marL="80821" marR="80821" marT="40410" marB="40410"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Lee, 2022</a:t>
                      </a:r>
                    </a:p>
                  </a:txBody>
                  <a:tcPr marL="80821" marR="80821" marT="40410" marB="40410"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Crime hotspot detection</a:t>
                      </a:r>
                    </a:p>
                  </a:txBody>
                  <a:tcPr marL="80821" marR="80821" marT="40410" marB="40410"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Public dataset</a:t>
                      </a:r>
                    </a:p>
                  </a:txBody>
                  <a:tcPr marL="80821" marR="80821" marT="40410" marB="40410" anchor="ctr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KNN</a:t>
                      </a:r>
                    </a:p>
                  </a:txBody>
                  <a:tcPr marL="80821" marR="80821" marT="40410" marB="40410"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Coordinates</a:t>
                      </a:r>
                    </a:p>
                  </a:txBody>
                  <a:tcPr marL="80821" marR="80821" marT="40410" marB="40410" anchor="ctr"/>
                </a:tc>
                <a:extLst>
                  <a:ext uri="{0D108BD9-81ED-4DB2-BD59-A6C34878D82A}">
                    <a16:rowId xmlns:a16="http://schemas.microsoft.com/office/drawing/2014/main" val="220562788"/>
                  </a:ext>
                </a:extLst>
              </a:tr>
              <a:tr h="565745">
                <a:tc>
                  <a:txBody>
                    <a:bodyPr/>
                    <a:lstStyle/>
                    <a:p>
                      <a:r>
                        <a:rPr lang="en-US" sz="1600"/>
                        <a:t>[3]</a:t>
                      </a:r>
                    </a:p>
                  </a:txBody>
                  <a:tcPr marL="80821" marR="80821" marT="40410" marB="40410"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Kumar, 2023</a:t>
                      </a:r>
                    </a:p>
                  </a:txBody>
                  <a:tcPr marL="80821" marR="80821" marT="40410" marB="40410"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Crime classification</a:t>
                      </a:r>
                    </a:p>
                  </a:txBody>
                  <a:tcPr marL="80821" marR="80821" marT="40410" marB="40410"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Crime records</a:t>
                      </a:r>
                    </a:p>
                  </a:txBody>
                  <a:tcPr marL="80821" marR="80821" marT="40410" marB="40410"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SVM</a:t>
                      </a:r>
                    </a:p>
                  </a:txBody>
                  <a:tcPr marL="80821" marR="80821" marT="40410" marB="40410"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Type, Area</a:t>
                      </a:r>
                    </a:p>
                  </a:txBody>
                  <a:tcPr marL="80821" marR="80821" marT="40410" marB="40410" anchor="ctr"/>
                </a:tc>
                <a:extLst>
                  <a:ext uri="{0D108BD9-81ED-4DB2-BD59-A6C34878D82A}">
                    <a16:rowId xmlns:a16="http://schemas.microsoft.com/office/drawing/2014/main" val="1538880994"/>
                  </a:ext>
                </a:extLst>
              </a:tr>
              <a:tr h="565745">
                <a:tc>
                  <a:txBody>
                    <a:bodyPr/>
                    <a:lstStyle/>
                    <a:p>
                      <a:r>
                        <a:rPr lang="en-US" sz="1600"/>
                        <a:t>[4]</a:t>
                      </a:r>
                    </a:p>
                  </a:txBody>
                  <a:tcPr marL="80821" marR="80821" marT="40410" marB="40410"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Patel, 2022</a:t>
                      </a:r>
                    </a:p>
                  </a:txBody>
                  <a:tcPr marL="80821" marR="80821" marT="40410" marB="40410"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Crime analysis</a:t>
                      </a:r>
                    </a:p>
                  </a:txBody>
                  <a:tcPr marL="80821" marR="80821" marT="40410" marB="40410"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Open data</a:t>
                      </a:r>
                    </a:p>
                  </a:txBody>
                  <a:tcPr marL="80821" marR="80821" marT="40410" marB="40410"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Naïve Bayes</a:t>
                      </a:r>
                    </a:p>
                  </a:txBody>
                  <a:tcPr marL="80821" marR="80821" marT="40410" marB="40410"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Time, Category</a:t>
                      </a:r>
                    </a:p>
                  </a:txBody>
                  <a:tcPr marL="80821" marR="80821" marT="40410" marB="40410" anchor="ctr"/>
                </a:tc>
                <a:extLst>
                  <a:ext uri="{0D108BD9-81ED-4DB2-BD59-A6C34878D82A}">
                    <a16:rowId xmlns:a16="http://schemas.microsoft.com/office/drawing/2014/main" val="2708476765"/>
                  </a:ext>
                </a:extLst>
              </a:tr>
              <a:tr h="565745">
                <a:tc>
                  <a:txBody>
                    <a:bodyPr/>
                    <a:lstStyle/>
                    <a:p>
                      <a:r>
                        <a:rPr lang="en-US" sz="1600"/>
                        <a:t>[5]</a:t>
                      </a:r>
                    </a:p>
                  </a:txBody>
                  <a:tcPr marL="80821" marR="80821" marT="40410" marB="40410"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Chen, 2023</a:t>
                      </a:r>
                    </a:p>
                  </a:txBody>
                  <a:tcPr marL="80821" marR="80821" marT="40410" marB="40410"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Pattern detection</a:t>
                      </a:r>
                    </a:p>
                  </a:txBody>
                  <a:tcPr marL="80821" marR="80821" marT="40410" marB="40410"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Large dataset</a:t>
                      </a:r>
                    </a:p>
                  </a:txBody>
                  <a:tcPr marL="80821" marR="80821" marT="40410" marB="40410"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Random Forest</a:t>
                      </a:r>
                    </a:p>
                  </a:txBody>
                  <a:tcPr marL="80821" marR="80821" marT="40410" marB="40410"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Multi-features</a:t>
                      </a:r>
                    </a:p>
                  </a:txBody>
                  <a:tcPr marL="80821" marR="80821" marT="40410" marB="40410" anchor="ctr"/>
                </a:tc>
                <a:extLst>
                  <a:ext uri="{0D108BD9-81ED-4DB2-BD59-A6C34878D82A}">
                    <a16:rowId xmlns:a16="http://schemas.microsoft.com/office/drawing/2014/main" val="1664998138"/>
                  </a:ext>
                </a:extLst>
              </a:tr>
              <a:tr h="565745">
                <a:tc>
                  <a:txBody>
                    <a:bodyPr/>
                    <a:lstStyle/>
                    <a:p>
                      <a:r>
                        <a:rPr lang="en-US" sz="1600"/>
                        <a:t>[6]</a:t>
                      </a:r>
                    </a:p>
                  </a:txBody>
                  <a:tcPr marL="80821" marR="80821" marT="40410" marB="40410"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Roy, 2021</a:t>
                      </a:r>
                    </a:p>
                  </a:txBody>
                  <a:tcPr marL="80821" marR="80821" marT="40410" marB="40410"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Crime trend prediction</a:t>
                      </a:r>
                    </a:p>
                  </a:txBody>
                  <a:tcPr marL="80821" marR="80821" marT="40410" marB="40410"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Historical data</a:t>
                      </a:r>
                    </a:p>
                  </a:txBody>
                  <a:tcPr marL="80821" marR="80821" marT="40410" marB="40410"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Neural Network</a:t>
                      </a:r>
                    </a:p>
                  </a:txBody>
                  <a:tcPr marL="80821" marR="80821" marT="40410" marB="40410"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Time-series</a:t>
                      </a:r>
                    </a:p>
                  </a:txBody>
                  <a:tcPr marL="80821" marR="80821" marT="40410" marB="40410" anchor="ctr"/>
                </a:tc>
                <a:extLst>
                  <a:ext uri="{0D108BD9-81ED-4DB2-BD59-A6C34878D82A}">
                    <a16:rowId xmlns:a16="http://schemas.microsoft.com/office/drawing/2014/main" val="3626825791"/>
                  </a:ext>
                </a:extLst>
              </a:tr>
              <a:tr h="565745">
                <a:tc>
                  <a:txBody>
                    <a:bodyPr/>
                    <a:lstStyle/>
                    <a:p>
                      <a:r>
                        <a:rPr lang="en-US" sz="1600"/>
                        <a:t>[7]</a:t>
                      </a:r>
                    </a:p>
                  </a:txBody>
                  <a:tcPr marL="80821" marR="80821" marT="40410" marB="40410"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Khan, 2022</a:t>
                      </a:r>
                    </a:p>
                  </a:txBody>
                  <a:tcPr marL="80821" marR="80821" marT="40410" marB="40410"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Crime forecasting</a:t>
                      </a:r>
                    </a:p>
                  </a:txBody>
                  <a:tcPr marL="80821" marR="80821" marT="40410" marB="40410"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Kaggle</a:t>
                      </a:r>
                    </a:p>
                  </a:txBody>
                  <a:tcPr marL="80821" marR="80821" marT="40410" marB="40410"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Logistic Regression</a:t>
                      </a:r>
                    </a:p>
                  </a:txBody>
                  <a:tcPr marL="80821" marR="80821" marT="40410" marB="40410" anchor="ctr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Location, Type</a:t>
                      </a:r>
                    </a:p>
                  </a:txBody>
                  <a:tcPr marL="80821" marR="80821" marT="40410" marB="40410" anchor="ctr"/>
                </a:tc>
                <a:extLst>
                  <a:ext uri="{0D108BD9-81ED-4DB2-BD59-A6C34878D82A}">
                    <a16:rowId xmlns:a16="http://schemas.microsoft.com/office/drawing/2014/main" val="205145133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152632" y="353331"/>
            <a:ext cx="3448336" cy="50988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095"/>
              </a:lnSpc>
            </a:pPr>
            <a:r>
              <a:rPr lang="en-US" sz="3413" spc="-21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Literature Summary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2916597" y="1194362"/>
            <a:ext cx="3920404" cy="3847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71501" lvl="1" algn="l">
              <a:lnSpc>
                <a:spcPts val="3071"/>
              </a:lnSpc>
            </a:pPr>
            <a:r>
              <a:rPr lang="en-US" sz="2559" spc="-10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Literature Survey Summary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2DA1B770-BA5E-2DDF-2BC0-F31FA66E13D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08195343"/>
              </p:ext>
            </p:extLst>
          </p:nvPr>
        </p:nvGraphicFramePr>
        <p:xfrm>
          <a:off x="803432" y="1910295"/>
          <a:ext cx="8146735" cy="483896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629347">
                  <a:extLst>
                    <a:ext uri="{9D8B030D-6E8A-4147-A177-3AD203B41FA5}">
                      <a16:colId xmlns:a16="http://schemas.microsoft.com/office/drawing/2014/main" val="4118184583"/>
                    </a:ext>
                  </a:extLst>
                </a:gridCol>
                <a:gridCol w="1629347">
                  <a:extLst>
                    <a:ext uri="{9D8B030D-6E8A-4147-A177-3AD203B41FA5}">
                      <a16:colId xmlns:a16="http://schemas.microsoft.com/office/drawing/2014/main" val="257026220"/>
                    </a:ext>
                  </a:extLst>
                </a:gridCol>
                <a:gridCol w="1629347">
                  <a:extLst>
                    <a:ext uri="{9D8B030D-6E8A-4147-A177-3AD203B41FA5}">
                      <a16:colId xmlns:a16="http://schemas.microsoft.com/office/drawing/2014/main" val="918997891"/>
                    </a:ext>
                  </a:extLst>
                </a:gridCol>
                <a:gridCol w="1629347">
                  <a:extLst>
                    <a:ext uri="{9D8B030D-6E8A-4147-A177-3AD203B41FA5}">
                      <a16:colId xmlns:a16="http://schemas.microsoft.com/office/drawing/2014/main" val="3489099510"/>
                    </a:ext>
                  </a:extLst>
                </a:gridCol>
                <a:gridCol w="1629347">
                  <a:extLst>
                    <a:ext uri="{9D8B030D-6E8A-4147-A177-3AD203B41FA5}">
                      <a16:colId xmlns:a16="http://schemas.microsoft.com/office/drawing/2014/main" val="1934618774"/>
                    </a:ext>
                  </a:extLst>
                </a:gridCol>
              </a:tblGrid>
              <a:tr h="633635">
                <a:tc>
                  <a:txBody>
                    <a:bodyPr/>
                    <a:lstStyle/>
                    <a:p>
                      <a:r>
                        <a:rPr lang="en-US" sz="1800"/>
                        <a:t>Ref</a:t>
                      </a:r>
                    </a:p>
                  </a:txBody>
                  <a:tcPr marL="90519" marR="90519" marT="45260" marB="45260" anchor="ctr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Accuracy</a:t>
                      </a:r>
                    </a:p>
                  </a:txBody>
                  <a:tcPr marL="90519" marR="90519" marT="45260" marB="45260" anchor="ctr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Limitations</a:t>
                      </a:r>
                    </a:p>
                  </a:txBody>
                  <a:tcPr marL="90519" marR="90519" marT="45260" marB="45260" anchor="ctr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Research Gap</a:t>
                      </a:r>
                    </a:p>
                  </a:txBody>
                  <a:tcPr marL="90519" marR="90519" marT="45260" marB="45260" anchor="ctr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Your Contribution</a:t>
                      </a:r>
                    </a:p>
                  </a:txBody>
                  <a:tcPr marL="90519" marR="90519" marT="45260" marB="45260" anchor="ctr"/>
                </a:tc>
                <a:extLst>
                  <a:ext uri="{0D108BD9-81ED-4DB2-BD59-A6C34878D82A}">
                    <a16:rowId xmlns:a16="http://schemas.microsoft.com/office/drawing/2014/main" val="4162647954"/>
                  </a:ext>
                </a:extLst>
              </a:tr>
              <a:tr h="633635">
                <a:tc>
                  <a:txBody>
                    <a:bodyPr/>
                    <a:lstStyle/>
                    <a:p>
                      <a:r>
                        <a:rPr lang="en-US" sz="1800"/>
                        <a:t>[1]</a:t>
                      </a:r>
                    </a:p>
                  </a:txBody>
                  <a:tcPr marL="90519" marR="90519" marT="45260" marB="45260" anchor="ctr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88%</a:t>
                      </a:r>
                    </a:p>
                  </a:txBody>
                  <a:tcPr marL="90519" marR="90519" marT="45260" marB="45260" anchor="ctr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Overfitting</a:t>
                      </a:r>
                    </a:p>
                  </a:txBody>
                  <a:tcPr marL="90519" marR="90519" marT="45260" marB="45260" anchor="ctr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Not real-time</a:t>
                      </a:r>
                    </a:p>
                  </a:txBody>
                  <a:tcPr marL="90519" marR="90519" marT="45260" marB="45260" anchor="ctr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Better preprocessing</a:t>
                      </a:r>
                    </a:p>
                  </a:txBody>
                  <a:tcPr marL="90519" marR="90519" marT="45260" marB="45260" anchor="ctr"/>
                </a:tc>
                <a:extLst>
                  <a:ext uri="{0D108BD9-81ED-4DB2-BD59-A6C34878D82A}">
                    <a16:rowId xmlns:a16="http://schemas.microsoft.com/office/drawing/2014/main" val="2908501463"/>
                  </a:ext>
                </a:extLst>
              </a:tr>
              <a:tr h="633635">
                <a:tc>
                  <a:txBody>
                    <a:bodyPr/>
                    <a:lstStyle/>
                    <a:p>
                      <a:r>
                        <a:rPr lang="en-US" sz="1800" dirty="0"/>
                        <a:t>[2]</a:t>
                      </a:r>
                    </a:p>
                  </a:txBody>
                  <a:tcPr marL="90519" marR="90519" marT="45260" marB="45260" anchor="ctr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82%</a:t>
                      </a:r>
                    </a:p>
                  </a:txBody>
                  <a:tcPr marL="90519" marR="90519" marT="45260" marB="45260" anchor="ctr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Low accuracy</a:t>
                      </a:r>
                    </a:p>
                  </a:txBody>
                  <a:tcPr marL="90519" marR="90519" marT="45260" marB="45260" anchor="ctr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Limited features</a:t>
                      </a:r>
                    </a:p>
                  </a:txBody>
                  <a:tcPr marL="90519" marR="90519" marT="45260" marB="45260" anchor="ctr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Multi-feature model</a:t>
                      </a:r>
                    </a:p>
                  </a:txBody>
                  <a:tcPr marL="90519" marR="90519" marT="45260" marB="45260" anchor="ctr"/>
                </a:tc>
                <a:extLst>
                  <a:ext uri="{0D108BD9-81ED-4DB2-BD59-A6C34878D82A}">
                    <a16:rowId xmlns:a16="http://schemas.microsoft.com/office/drawing/2014/main" val="2167638473"/>
                  </a:ext>
                </a:extLst>
              </a:tr>
              <a:tr h="362077">
                <a:tc>
                  <a:txBody>
                    <a:bodyPr/>
                    <a:lstStyle/>
                    <a:p>
                      <a:r>
                        <a:rPr lang="en-US" sz="1800"/>
                        <a:t>[3]</a:t>
                      </a:r>
                    </a:p>
                  </a:txBody>
                  <a:tcPr marL="90519" marR="90519" marT="45260" marB="45260" anchor="ctr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85%</a:t>
                      </a:r>
                    </a:p>
                  </a:txBody>
                  <a:tcPr marL="90519" marR="90519" marT="45260" marB="45260" anchor="ctr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Complex tuning</a:t>
                      </a:r>
                    </a:p>
                  </a:txBody>
                  <a:tcPr marL="90519" marR="90519" marT="45260" marB="45260" anchor="ctr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Less scalability</a:t>
                      </a:r>
                    </a:p>
                  </a:txBody>
                  <a:tcPr marL="90519" marR="90519" marT="45260" marB="45260" anchor="ctr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Optimized SVM</a:t>
                      </a:r>
                    </a:p>
                  </a:txBody>
                  <a:tcPr marL="90519" marR="90519" marT="45260" marB="45260" anchor="ctr"/>
                </a:tc>
                <a:extLst>
                  <a:ext uri="{0D108BD9-81ED-4DB2-BD59-A6C34878D82A}">
                    <a16:rowId xmlns:a16="http://schemas.microsoft.com/office/drawing/2014/main" val="327866481"/>
                  </a:ext>
                </a:extLst>
              </a:tr>
              <a:tr h="633635">
                <a:tc>
                  <a:txBody>
                    <a:bodyPr/>
                    <a:lstStyle/>
                    <a:p>
                      <a:r>
                        <a:rPr lang="en-US" sz="1800"/>
                        <a:t>[4]</a:t>
                      </a:r>
                    </a:p>
                  </a:txBody>
                  <a:tcPr marL="90519" marR="90519" marT="45260" marB="45260" anchor="ctr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80%</a:t>
                      </a:r>
                    </a:p>
                  </a:txBody>
                  <a:tcPr marL="90519" marR="90519" marT="45260" marB="45260" anchor="ctr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Less accuracy</a:t>
                      </a:r>
                    </a:p>
                  </a:txBody>
                  <a:tcPr marL="90519" marR="90519" marT="45260" marB="45260" anchor="ctr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Weak prediction</a:t>
                      </a:r>
                    </a:p>
                  </a:txBody>
                  <a:tcPr marL="90519" marR="90519" marT="45260" marB="45260" anchor="ctr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Improved model</a:t>
                      </a:r>
                    </a:p>
                  </a:txBody>
                  <a:tcPr marL="90519" marR="90519" marT="45260" marB="45260" anchor="ctr"/>
                </a:tc>
                <a:extLst>
                  <a:ext uri="{0D108BD9-81ED-4DB2-BD59-A6C34878D82A}">
                    <a16:rowId xmlns:a16="http://schemas.microsoft.com/office/drawing/2014/main" val="2095797782"/>
                  </a:ext>
                </a:extLst>
              </a:tr>
              <a:tr h="362077">
                <a:tc>
                  <a:txBody>
                    <a:bodyPr/>
                    <a:lstStyle/>
                    <a:p>
                      <a:r>
                        <a:rPr lang="en-US" sz="1800"/>
                        <a:t>[5]</a:t>
                      </a:r>
                    </a:p>
                  </a:txBody>
                  <a:tcPr marL="90519" marR="90519" marT="45260" marB="45260" anchor="ctr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89%</a:t>
                      </a:r>
                    </a:p>
                  </a:txBody>
                  <a:tcPr marL="90519" marR="90519" marT="45260" marB="45260" anchor="ctr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High compute</a:t>
                      </a:r>
                    </a:p>
                  </a:txBody>
                  <a:tcPr marL="90519" marR="90519" marT="45260" marB="45260" anchor="ctr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Slow training</a:t>
                      </a:r>
                    </a:p>
                  </a:txBody>
                  <a:tcPr marL="90519" marR="90519" marT="45260" marB="45260" anchor="ctr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Efficient RF</a:t>
                      </a:r>
                    </a:p>
                  </a:txBody>
                  <a:tcPr marL="90519" marR="90519" marT="45260" marB="45260" anchor="ctr"/>
                </a:tc>
                <a:extLst>
                  <a:ext uri="{0D108BD9-81ED-4DB2-BD59-A6C34878D82A}">
                    <a16:rowId xmlns:a16="http://schemas.microsoft.com/office/drawing/2014/main" val="1478627825"/>
                  </a:ext>
                </a:extLst>
              </a:tr>
              <a:tr h="633635">
                <a:tc>
                  <a:txBody>
                    <a:bodyPr/>
                    <a:lstStyle/>
                    <a:p>
                      <a:r>
                        <a:rPr lang="en-US" sz="1800"/>
                        <a:t>[6]</a:t>
                      </a:r>
                    </a:p>
                  </a:txBody>
                  <a:tcPr marL="90519" marR="90519" marT="45260" marB="45260" anchor="ctr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87%</a:t>
                      </a:r>
                    </a:p>
                  </a:txBody>
                  <a:tcPr marL="90519" marR="90519" marT="45260" marB="45260" anchor="ctr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Needs large data</a:t>
                      </a:r>
                    </a:p>
                  </a:txBody>
                  <a:tcPr marL="90519" marR="90519" marT="45260" marB="45260" anchor="ctr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Not accurate for rare crimes</a:t>
                      </a:r>
                    </a:p>
                  </a:txBody>
                  <a:tcPr marL="90519" marR="90519" marT="45260" marB="45260" anchor="ctr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Balanced dataset</a:t>
                      </a:r>
                    </a:p>
                  </a:txBody>
                  <a:tcPr marL="90519" marR="90519" marT="45260" marB="45260" anchor="ctr"/>
                </a:tc>
                <a:extLst>
                  <a:ext uri="{0D108BD9-81ED-4DB2-BD59-A6C34878D82A}">
                    <a16:rowId xmlns:a16="http://schemas.microsoft.com/office/drawing/2014/main" val="2170804646"/>
                  </a:ext>
                </a:extLst>
              </a:tr>
              <a:tr h="633635">
                <a:tc>
                  <a:txBody>
                    <a:bodyPr/>
                    <a:lstStyle/>
                    <a:p>
                      <a:r>
                        <a:rPr lang="en-US" sz="1800"/>
                        <a:t>[7]</a:t>
                      </a:r>
                    </a:p>
                  </a:txBody>
                  <a:tcPr marL="90519" marR="90519" marT="45260" marB="45260" anchor="ctr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83%</a:t>
                      </a:r>
                    </a:p>
                  </a:txBody>
                  <a:tcPr marL="90519" marR="90519" marT="45260" marB="45260" anchor="ctr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Simple model</a:t>
                      </a:r>
                    </a:p>
                  </a:txBody>
                  <a:tcPr marL="90519" marR="90519" marT="45260" marB="45260" anchor="ctr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Low performance</a:t>
                      </a:r>
                    </a:p>
                  </a:txBody>
                  <a:tcPr marL="90519" marR="90519" marT="45260" marB="45260" anchor="ctr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Hybrid approach</a:t>
                      </a:r>
                    </a:p>
                  </a:txBody>
                  <a:tcPr marL="90519" marR="90519" marT="45260" marB="45260" anchor="ctr"/>
                </a:tc>
                <a:extLst>
                  <a:ext uri="{0D108BD9-81ED-4DB2-BD59-A6C34878D82A}">
                    <a16:rowId xmlns:a16="http://schemas.microsoft.com/office/drawing/2014/main" val="273731859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695432" y="304800"/>
            <a:ext cx="4362736" cy="50988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095"/>
              </a:lnSpc>
            </a:pPr>
            <a:r>
              <a:rPr lang="en-US" sz="3413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Research Gaps Identified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567513" y="1563890"/>
            <a:ext cx="8184209" cy="3095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52703" lvl="1" indent="-276352" algn="l">
              <a:lnSpc>
                <a:spcPts val="3071"/>
              </a:lnSpc>
              <a:buFont typeface="Arial"/>
              <a:buChar char="•"/>
            </a:pPr>
            <a:r>
              <a:rPr lang="en-US" sz="255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Lack of real-time crime prediction systems</a:t>
            </a:r>
          </a:p>
          <a:p>
            <a:pPr marL="552703" lvl="1" indent="-276352" algn="l">
              <a:lnSpc>
                <a:spcPts val="3071"/>
              </a:lnSpc>
              <a:buFont typeface="Arial"/>
              <a:buChar char="•"/>
            </a:pPr>
            <a:r>
              <a:rPr lang="en-US" sz="255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Poor handling of imbalanced datasets (rare crimes)</a:t>
            </a:r>
          </a:p>
          <a:p>
            <a:pPr marL="552703" lvl="1" indent="-276352" algn="l">
              <a:lnSpc>
                <a:spcPts val="3071"/>
              </a:lnSpc>
              <a:buFont typeface="Arial"/>
              <a:buChar char="•"/>
            </a:pPr>
            <a:r>
              <a:rPr lang="en-US" sz="255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Limited use of multiple features (time + location + type)</a:t>
            </a:r>
          </a:p>
          <a:p>
            <a:pPr marL="552703" lvl="1" indent="-276352" algn="l">
              <a:lnSpc>
                <a:spcPts val="3071"/>
              </a:lnSpc>
              <a:buFont typeface="Arial"/>
              <a:buChar char="•"/>
            </a:pPr>
            <a:r>
              <a:rPr lang="en-US" sz="255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Lower accuracy in existing models</a:t>
            </a:r>
          </a:p>
          <a:p>
            <a:pPr marL="552703" lvl="1" indent="-276352" algn="l">
              <a:lnSpc>
                <a:spcPts val="3071"/>
              </a:lnSpc>
              <a:buFont typeface="Arial"/>
              <a:buChar char="•"/>
            </a:pPr>
            <a:r>
              <a:rPr lang="en-US" sz="255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High computational cost in some methods</a:t>
            </a:r>
          </a:p>
          <a:p>
            <a:pPr marL="552703" lvl="1" indent="-276352" algn="l">
              <a:lnSpc>
                <a:spcPts val="3071"/>
              </a:lnSpc>
              <a:buFont typeface="Arial"/>
              <a:buChar char="•"/>
            </a:pPr>
            <a:r>
              <a:rPr lang="en-US" sz="255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Weak hotspot detection integration</a:t>
            </a:r>
          </a:p>
          <a:p>
            <a:pPr marL="552703" lvl="1" indent="-276352" algn="l">
              <a:lnSpc>
                <a:spcPts val="3071"/>
              </a:lnSpc>
              <a:buFont typeface="Arial"/>
              <a:buChar char="•"/>
            </a:pPr>
            <a:r>
              <a:rPr lang="en-US" sz="255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Need for better model optimization &amp; tuning</a:t>
            </a:r>
          </a:p>
          <a:p>
            <a:pPr algn="l">
              <a:lnSpc>
                <a:spcPts val="3071"/>
              </a:lnSpc>
            </a:pPr>
            <a:endParaRPr lang="en-US" sz="2559">
              <a:solidFill>
                <a:srgbClr val="000000"/>
              </a:solidFill>
              <a:latin typeface="Calibri (MS)"/>
              <a:ea typeface="Calibri (MS)"/>
              <a:cs typeface="Calibri (MS)"/>
              <a:sym typeface="Calibri (MS)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114532" y="228600"/>
            <a:ext cx="3524536" cy="50988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095"/>
              </a:lnSpc>
            </a:pPr>
            <a:r>
              <a:rPr lang="en-US" sz="3413" spc="-10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System Architecture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385238" y="1251938"/>
            <a:ext cx="8983124" cy="6524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1"/>
              </a:lnSpc>
            </a:pPr>
            <a:r>
              <a:rPr lang="en-US" sz="255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🔹 System Architecture (Block Diagram)</a:t>
            </a:r>
          </a:p>
          <a:p>
            <a:pPr algn="l">
              <a:lnSpc>
                <a:spcPts val="3071"/>
              </a:lnSpc>
            </a:pPr>
            <a:r>
              <a:rPr lang="en-US" sz="255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Input → Preprocessing → Feature Engineering → Model → Output</a:t>
            </a:r>
          </a:p>
          <a:p>
            <a:pPr marL="552703" lvl="1" indent="-276352" algn="l">
              <a:lnSpc>
                <a:spcPts val="3071"/>
              </a:lnSpc>
              <a:buFont typeface="Arial"/>
              <a:buChar char="•"/>
            </a:pPr>
            <a:r>
              <a:rPr lang="en-US" sz="255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Input: Crime dataset (location, time, type)</a:t>
            </a:r>
          </a:p>
          <a:p>
            <a:pPr marL="552703" lvl="1" indent="-276352" algn="l">
              <a:lnSpc>
                <a:spcPts val="3071"/>
              </a:lnSpc>
              <a:buFont typeface="Arial"/>
              <a:buChar char="•"/>
            </a:pPr>
            <a:r>
              <a:rPr lang="en-US" sz="255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Preprocessing: Cleaning, encoding, scaling</a:t>
            </a:r>
          </a:p>
          <a:p>
            <a:pPr marL="552703" lvl="1" indent="-276352" algn="l">
              <a:lnSpc>
                <a:spcPts val="3071"/>
              </a:lnSpc>
              <a:buFont typeface="Arial"/>
              <a:buChar char="•"/>
            </a:pPr>
            <a:r>
              <a:rPr lang="en-US" sz="255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Feature Engineering: Extract useful features</a:t>
            </a:r>
          </a:p>
          <a:p>
            <a:pPr marL="552703" lvl="1" indent="-276352" algn="l">
              <a:lnSpc>
                <a:spcPts val="3071"/>
              </a:lnSpc>
              <a:buFont typeface="Arial"/>
              <a:buChar char="•"/>
            </a:pPr>
            <a:r>
              <a:rPr lang="en-US" sz="255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Model: Random Forest (best model)</a:t>
            </a:r>
          </a:p>
          <a:p>
            <a:pPr marL="552703" lvl="1" indent="-276352" algn="l">
              <a:lnSpc>
                <a:spcPts val="3071"/>
              </a:lnSpc>
              <a:buFont typeface="Arial"/>
              <a:buChar char="•"/>
            </a:pPr>
            <a:r>
              <a:rPr lang="en-US" sz="255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Output: Crime prediction &amp; hotspots</a:t>
            </a:r>
          </a:p>
          <a:p>
            <a:pPr algn="l">
              <a:lnSpc>
                <a:spcPts val="3071"/>
              </a:lnSpc>
            </a:pPr>
            <a:endParaRPr lang="en-US" sz="2559" dirty="0">
              <a:solidFill>
                <a:srgbClr val="000000"/>
              </a:solidFill>
              <a:latin typeface="Calibri (MS)"/>
              <a:ea typeface="Calibri (MS)"/>
              <a:cs typeface="Calibri (MS)"/>
              <a:sym typeface="Calibri (MS)"/>
            </a:endParaRPr>
          </a:p>
          <a:p>
            <a:pPr algn="l">
              <a:lnSpc>
                <a:spcPts val="3071"/>
              </a:lnSpc>
            </a:pPr>
            <a:r>
              <a:rPr lang="en-US" sz="255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🔹 End-to-End Workflow</a:t>
            </a:r>
          </a:p>
          <a:p>
            <a:pPr marL="552703" lvl="1" indent="-276352" algn="l">
              <a:lnSpc>
                <a:spcPts val="3071"/>
              </a:lnSpc>
              <a:buFont typeface="Arial"/>
              <a:buChar char="•"/>
            </a:pPr>
            <a:r>
              <a:rPr lang="en-US" sz="255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Load crime dataset</a:t>
            </a:r>
          </a:p>
          <a:p>
            <a:pPr marL="552703" lvl="1" indent="-276352" algn="l">
              <a:lnSpc>
                <a:spcPts val="3071"/>
              </a:lnSpc>
              <a:buFont typeface="Arial"/>
              <a:buChar char="•"/>
            </a:pPr>
            <a:r>
              <a:rPr lang="en-US" sz="255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Clean &amp; preprocess data</a:t>
            </a:r>
          </a:p>
          <a:p>
            <a:pPr marL="552703" lvl="1" indent="-276352" algn="l">
              <a:lnSpc>
                <a:spcPts val="3071"/>
              </a:lnSpc>
              <a:buFont typeface="Arial"/>
              <a:buChar char="•"/>
            </a:pPr>
            <a:r>
              <a:rPr lang="en-US" sz="255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Perform feature extraction</a:t>
            </a:r>
          </a:p>
          <a:p>
            <a:pPr marL="552703" lvl="1" indent="-276352" algn="l">
              <a:lnSpc>
                <a:spcPts val="3071"/>
              </a:lnSpc>
              <a:buFont typeface="Arial"/>
              <a:buChar char="•"/>
            </a:pPr>
            <a:r>
              <a:rPr lang="en-US" sz="255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Train ML models</a:t>
            </a:r>
          </a:p>
          <a:p>
            <a:pPr marL="552703" lvl="1" indent="-276352" algn="l">
              <a:lnSpc>
                <a:spcPts val="3071"/>
              </a:lnSpc>
              <a:buFont typeface="Arial"/>
              <a:buChar char="•"/>
            </a:pPr>
            <a:r>
              <a:rPr lang="en-US" sz="255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Predict crime type</a:t>
            </a:r>
          </a:p>
          <a:p>
            <a:pPr marL="552703" lvl="1" indent="-276352" algn="l">
              <a:lnSpc>
                <a:spcPts val="3071"/>
              </a:lnSpc>
              <a:buFont typeface="Arial"/>
              <a:buChar char="•"/>
            </a:pPr>
            <a:r>
              <a:rPr lang="en-US" sz="255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Identify crime hotspots</a:t>
            </a:r>
          </a:p>
          <a:p>
            <a:pPr algn="l">
              <a:lnSpc>
                <a:spcPts val="3071"/>
              </a:lnSpc>
            </a:pPr>
            <a:endParaRPr lang="en-US" sz="2559" dirty="0">
              <a:solidFill>
                <a:srgbClr val="000000"/>
              </a:solidFill>
              <a:latin typeface="Calibri (MS)"/>
              <a:ea typeface="Calibri (MS)"/>
              <a:cs typeface="Calibri (MS)"/>
              <a:sym typeface="Calibri (MS)"/>
            </a:endParaRPr>
          </a:p>
          <a:p>
            <a:pPr algn="l">
              <a:lnSpc>
                <a:spcPts val="3071"/>
              </a:lnSpc>
            </a:pPr>
            <a:endParaRPr lang="en-US" sz="2559" dirty="0">
              <a:solidFill>
                <a:srgbClr val="000000"/>
              </a:solidFill>
              <a:latin typeface="Calibri (MS)"/>
              <a:ea typeface="Calibri (MS)"/>
              <a:cs typeface="Calibri (MS)"/>
              <a:sym typeface="Calibri (MS)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619232" y="339845"/>
            <a:ext cx="4515136" cy="50988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095"/>
              </a:lnSpc>
            </a:pPr>
            <a:r>
              <a:rPr lang="en-US" sz="3413" spc="-10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Dataset &amp; Pre-processing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307152" y="1219200"/>
            <a:ext cx="9139295" cy="55528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1"/>
              </a:lnSpc>
            </a:pPr>
            <a:r>
              <a:rPr lang="en-US" sz="2559" spc="-10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🔹 Dataset Description</a:t>
            </a:r>
          </a:p>
          <a:p>
            <a:pPr marL="552703" lvl="1" indent="-276352" algn="l">
              <a:lnSpc>
                <a:spcPts val="3071"/>
              </a:lnSpc>
              <a:buFont typeface="Arial"/>
              <a:buChar char="•"/>
            </a:pPr>
            <a:r>
              <a:rPr lang="en-US" sz="2559" spc="-10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Source: Kaggle crime dataset</a:t>
            </a:r>
          </a:p>
          <a:p>
            <a:pPr marL="552703" lvl="1" indent="-276352" algn="l">
              <a:lnSpc>
                <a:spcPts val="3071"/>
              </a:lnSpc>
              <a:buFont typeface="Arial"/>
              <a:buChar char="•"/>
            </a:pPr>
            <a:r>
              <a:rPr lang="en-US" sz="2559" spc="-10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Includes: Location, Time, Crime Type, Coordinates</a:t>
            </a:r>
          </a:p>
          <a:p>
            <a:pPr marL="552703" lvl="1" indent="-276352" algn="l">
              <a:lnSpc>
                <a:spcPts val="3071"/>
              </a:lnSpc>
              <a:buFont typeface="Arial"/>
              <a:buChar char="•"/>
            </a:pPr>
            <a:endParaRPr lang="en-US" sz="2559" spc="-10" dirty="0">
              <a:solidFill>
                <a:srgbClr val="000000"/>
              </a:solidFill>
              <a:latin typeface="Calibri (MS)"/>
              <a:ea typeface="Calibri (MS)"/>
              <a:cs typeface="Calibri (MS)"/>
              <a:sym typeface="Calibri (MS)"/>
            </a:endParaRPr>
          </a:p>
          <a:p>
            <a:pPr algn="l">
              <a:lnSpc>
                <a:spcPts val="3071"/>
              </a:lnSpc>
            </a:pPr>
            <a:r>
              <a:rPr lang="en-US" sz="2559" spc="-10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🔹 Final Features Used</a:t>
            </a:r>
          </a:p>
          <a:p>
            <a:pPr marL="552703" lvl="1" indent="-276352" algn="l">
              <a:lnSpc>
                <a:spcPts val="3071"/>
              </a:lnSpc>
              <a:buFont typeface="Arial"/>
              <a:buChar char="•"/>
            </a:pPr>
            <a:r>
              <a:rPr lang="en-US" sz="2559" spc="-10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Location (Area/City)</a:t>
            </a:r>
          </a:p>
          <a:p>
            <a:pPr marL="552703" lvl="1" indent="-276352" algn="l">
              <a:lnSpc>
                <a:spcPts val="3071"/>
              </a:lnSpc>
              <a:buFont typeface="Arial"/>
              <a:buChar char="•"/>
            </a:pPr>
            <a:r>
              <a:rPr lang="en-US" sz="2559" spc="-10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Date &amp; Time (Year, Month, Time)</a:t>
            </a:r>
          </a:p>
          <a:p>
            <a:pPr marL="552703" lvl="1" indent="-276352" algn="l">
              <a:lnSpc>
                <a:spcPts val="3071"/>
              </a:lnSpc>
              <a:buFont typeface="Arial"/>
              <a:buChar char="•"/>
            </a:pPr>
            <a:r>
              <a:rPr lang="en-US" sz="2559" spc="-10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Target: Crime Type</a:t>
            </a:r>
          </a:p>
          <a:p>
            <a:pPr algn="l">
              <a:lnSpc>
                <a:spcPts val="3071"/>
              </a:lnSpc>
            </a:pPr>
            <a:endParaRPr lang="en-US" sz="2559" spc="-10" dirty="0">
              <a:solidFill>
                <a:srgbClr val="000000"/>
              </a:solidFill>
              <a:latin typeface="Calibri (MS)"/>
              <a:ea typeface="Calibri (MS)"/>
              <a:cs typeface="Calibri (MS)"/>
              <a:sym typeface="Calibri (MS)"/>
            </a:endParaRPr>
          </a:p>
          <a:p>
            <a:pPr algn="l">
              <a:lnSpc>
                <a:spcPts val="3071"/>
              </a:lnSpc>
            </a:pPr>
            <a:r>
              <a:rPr lang="en-US" sz="2559" spc="-10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🔹 Preprocessing Steps (Flow)</a:t>
            </a:r>
          </a:p>
          <a:p>
            <a:pPr algn="l">
              <a:lnSpc>
                <a:spcPts val="3071"/>
              </a:lnSpc>
            </a:pPr>
            <a:r>
              <a:rPr lang="en-US" sz="2559" spc="-10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Load Data → Handle Missing Values → Encoding → Scaling → Feature Selection → Clean Dataset</a:t>
            </a:r>
          </a:p>
          <a:p>
            <a:pPr marL="552703" lvl="1" indent="-276352" algn="l">
              <a:lnSpc>
                <a:spcPts val="3071"/>
              </a:lnSpc>
              <a:buFont typeface="Arial"/>
              <a:buChar char="•"/>
            </a:pPr>
            <a:r>
              <a:rPr lang="en-US" sz="2559" spc="-10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Removed/filled missing values</a:t>
            </a:r>
          </a:p>
          <a:p>
            <a:pPr marL="552703" lvl="1" indent="-276352" algn="l">
              <a:lnSpc>
                <a:spcPts val="3071"/>
              </a:lnSpc>
              <a:buFont typeface="Arial"/>
              <a:buChar char="•"/>
            </a:pPr>
            <a:r>
              <a:rPr lang="en-US" sz="2559" spc="-10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Applied Label &amp; One-Hot Encoding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647932" y="152400"/>
            <a:ext cx="2457736" cy="50988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095"/>
              </a:lnSpc>
            </a:pPr>
            <a:r>
              <a:rPr lang="en-US" sz="3413" spc="-10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Methodology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69204" y="578263"/>
            <a:ext cx="9415192" cy="67455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1"/>
              </a:lnSpc>
            </a:pPr>
            <a:r>
              <a:rPr lang="en-US" sz="255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🔹 Methodology</a:t>
            </a:r>
          </a:p>
          <a:p>
            <a:pPr algn="l">
              <a:lnSpc>
                <a:spcPts val="3071"/>
              </a:lnSpc>
            </a:pPr>
            <a:r>
              <a:rPr lang="en-US" sz="255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• Algorithms Used</a:t>
            </a:r>
          </a:p>
          <a:p>
            <a:pPr marL="552703" lvl="1" indent="-276352" algn="l">
              <a:lnSpc>
                <a:spcPts val="3071"/>
              </a:lnSpc>
              <a:buFont typeface="Arial"/>
              <a:buChar char="•"/>
            </a:pPr>
            <a:r>
              <a:rPr lang="en-US" sz="255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Decision Tree (Phase 1 baseline)</a:t>
            </a:r>
          </a:p>
          <a:p>
            <a:pPr marL="552703" lvl="1" indent="-276352" algn="l">
              <a:lnSpc>
                <a:spcPts val="3071"/>
              </a:lnSpc>
              <a:buFont typeface="Arial"/>
              <a:buChar char="•"/>
            </a:pPr>
            <a:r>
              <a:rPr lang="en-US" sz="255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Support Vector Machine (SVM)</a:t>
            </a:r>
          </a:p>
          <a:p>
            <a:pPr marL="552703" lvl="1" indent="-276352" algn="l">
              <a:lnSpc>
                <a:spcPts val="3071"/>
              </a:lnSpc>
              <a:buFont typeface="Arial"/>
              <a:buChar char="•"/>
            </a:pPr>
            <a:r>
              <a:rPr lang="en-US" sz="255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Random Forest (Best model)</a:t>
            </a:r>
          </a:p>
          <a:p>
            <a:pPr algn="l">
              <a:lnSpc>
                <a:spcPts val="3071"/>
              </a:lnSpc>
            </a:pPr>
            <a:endParaRPr lang="en-US" sz="2559" dirty="0">
              <a:solidFill>
                <a:srgbClr val="000000"/>
              </a:solidFill>
              <a:latin typeface="Calibri (MS)"/>
              <a:ea typeface="Calibri (MS)"/>
              <a:cs typeface="Calibri (MS)"/>
              <a:sym typeface="Calibri (MS)"/>
            </a:endParaRPr>
          </a:p>
          <a:p>
            <a:pPr algn="l">
              <a:lnSpc>
                <a:spcPts val="3071"/>
              </a:lnSpc>
            </a:pPr>
            <a:r>
              <a:rPr lang="en-US" sz="255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• Model Pipeline</a:t>
            </a:r>
          </a:p>
          <a:p>
            <a:pPr algn="l">
              <a:lnSpc>
                <a:spcPts val="3071"/>
              </a:lnSpc>
            </a:pPr>
            <a:r>
              <a:rPr lang="en-US" sz="255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Input → Preprocessing → Feature Engineering → Model Training → Evaluation → Prediction</a:t>
            </a:r>
          </a:p>
          <a:p>
            <a:pPr marL="552703" lvl="1" indent="-276352" algn="l">
              <a:lnSpc>
                <a:spcPts val="3071"/>
              </a:lnSpc>
              <a:buFont typeface="Arial"/>
              <a:buChar char="•"/>
            </a:pPr>
            <a:r>
              <a:rPr lang="en-US" sz="255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Data cleaning &amp; encoding</a:t>
            </a:r>
          </a:p>
          <a:p>
            <a:pPr marL="276351" lvl="1" algn="l">
              <a:lnSpc>
                <a:spcPts val="3071"/>
              </a:lnSpc>
            </a:pPr>
            <a:endParaRPr lang="en-US" sz="2559" dirty="0">
              <a:solidFill>
                <a:srgbClr val="000000"/>
              </a:solidFill>
              <a:latin typeface="Calibri (MS)"/>
              <a:ea typeface="Calibri (MS)"/>
              <a:cs typeface="Calibri (MS)"/>
              <a:sym typeface="Calibri (MS)"/>
            </a:endParaRPr>
          </a:p>
          <a:p>
            <a:pPr algn="l">
              <a:lnSpc>
                <a:spcPts val="3071"/>
              </a:lnSpc>
            </a:pPr>
            <a:r>
              <a:rPr lang="en-US" sz="255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• Tools &amp; Technologies</a:t>
            </a:r>
          </a:p>
          <a:p>
            <a:pPr marL="552703" lvl="1" indent="-276352" algn="l">
              <a:lnSpc>
                <a:spcPts val="3071"/>
              </a:lnSpc>
              <a:buFont typeface="Arial"/>
              <a:buChar char="•"/>
            </a:pPr>
            <a:r>
              <a:rPr lang="en-US" sz="255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Language: Python</a:t>
            </a:r>
          </a:p>
          <a:p>
            <a:pPr marL="552703" lvl="1" indent="-276352" algn="l">
              <a:lnSpc>
                <a:spcPts val="3071"/>
              </a:lnSpc>
              <a:buFont typeface="Arial"/>
              <a:buChar char="•"/>
            </a:pPr>
            <a:r>
              <a:rPr lang="en-US" sz="255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Libraries: Pandas, NumPy, Scikit-learn, Matplotlib</a:t>
            </a:r>
          </a:p>
          <a:p>
            <a:pPr marL="552703" lvl="1" indent="-276352" algn="l">
              <a:lnSpc>
                <a:spcPts val="3071"/>
              </a:lnSpc>
              <a:buFont typeface="Arial"/>
              <a:buChar char="•"/>
            </a:pPr>
            <a:r>
              <a:rPr lang="en-US" sz="255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Platform: </a:t>
            </a:r>
            <a:r>
              <a:rPr lang="en-US" sz="2559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Jupyter</a:t>
            </a:r>
            <a:r>
              <a:rPr lang="en-US" sz="255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Notebook / Google </a:t>
            </a:r>
            <a:r>
              <a:rPr lang="en-US" sz="2559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Colab</a:t>
            </a:r>
            <a:endParaRPr lang="en-US" sz="2559" dirty="0">
              <a:solidFill>
                <a:srgbClr val="000000"/>
              </a:solidFill>
              <a:latin typeface="Calibri (MS)"/>
              <a:ea typeface="Calibri (MS)"/>
              <a:cs typeface="Calibri (MS)"/>
              <a:sym typeface="Calibri (MS)"/>
            </a:endParaRPr>
          </a:p>
          <a:p>
            <a:pPr marL="552703" lvl="1" indent="-276352" algn="l">
              <a:lnSpc>
                <a:spcPts val="3071"/>
              </a:lnSpc>
              <a:buFont typeface="Arial"/>
              <a:buChar char="•"/>
            </a:pPr>
            <a:r>
              <a:rPr lang="en-US" sz="255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Dataset: Kaggle</a:t>
            </a:r>
          </a:p>
          <a:p>
            <a:pPr algn="l">
              <a:lnSpc>
                <a:spcPts val="3071"/>
              </a:lnSpc>
            </a:pPr>
            <a:endParaRPr lang="en-US" sz="2559" dirty="0">
              <a:solidFill>
                <a:srgbClr val="000000"/>
              </a:solidFill>
              <a:latin typeface="Calibri (MS)"/>
              <a:ea typeface="Calibri (MS)"/>
              <a:cs typeface="Calibri (MS)"/>
              <a:sym typeface="Calibri (MS)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152632" y="304800"/>
            <a:ext cx="3448336" cy="50988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095"/>
              </a:lnSpc>
            </a:pPr>
            <a:r>
              <a:rPr lang="en-US" sz="3413" spc="-10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Model Comparison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66800" y="1447800"/>
            <a:ext cx="5786495" cy="277005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071"/>
              </a:lnSpc>
            </a:pPr>
            <a:r>
              <a:rPr lang="en-US" sz="255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🔹 Model Comparison</a:t>
            </a:r>
          </a:p>
          <a:p>
            <a:pPr marL="552703" lvl="1" indent="-276352" algn="l">
              <a:lnSpc>
                <a:spcPts val="3071"/>
              </a:lnSpc>
              <a:buFont typeface="Arial"/>
              <a:buChar char="•"/>
            </a:pPr>
            <a:r>
              <a:rPr lang="en-US" sz="255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Compared multiple ML models</a:t>
            </a:r>
          </a:p>
          <a:p>
            <a:pPr marL="552703" lvl="1" indent="-276352" algn="l">
              <a:lnSpc>
                <a:spcPts val="3071"/>
              </a:lnSpc>
              <a:buFont typeface="Arial"/>
              <a:buChar char="•"/>
            </a:pPr>
            <a:r>
              <a:rPr lang="en-US" sz="255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Decision Tree used as baseline</a:t>
            </a:r>
          </a:p>
          <a:p>
            <a:pPr marL="552703" lvl="1" indent="-276352" algn="l">
              <a:lnSpc>
                <a:spcPts val="3071"/>
              </a:lnSpc>
              <a:buFont typeface="Arial"/>
              <a:buChar char="•"/>
            </a:pPr>
            <a:r>
              <a:rPr lang="en-US" sz="255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SVM handled complex patterns</a:t>
            </a:r>
          </a:p>
          <a:p>
            <a:pPr marL="552703" lvl="1" indent="-276352" algn="l">
              <a:lnSpc>
                <a:spcPts val="3071"/>
              </a:lnSpc>
              <a:buFont typeface="Arial"/>
              <a:buChar char="•"/>
            </a:pPr>
            <a:r>
              <a:rPr lang="en-US" sz="255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Random Forest gave best performance</a:t>
            </a:r>
          </a:p>
          <a:p>
            <a:pPr marL="552703" lvl="1" indent="-276352" algn="l">
              <a:lnSpc>
                <a:spcPts val="3071"/>
              </a:lnSpc>
              <a:buFont typeface="Arial"/>
              <a:buChar char="•"/>
            </a:pPr>
            <a:r>
              <a:rPr lang="en-US" sz="255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Selected based on accuracy &amp; stability</a:t>
            </a:r>
          </a:p>
          <a:p>
            <a:pPr algn="l">
              <a:lnSpc>
                <a:spcPts val="3071"/>
              </a:lnSpc>
            </a:pPr>
            <a:endParaRPr lang="en-US" sz="2559" dirty="0">
              <a:solidFill>
                <a:srgbClr val="000000"/>
              </a:solidFill>
              <a:latin typeface="Calibri (MS)"/>
              <a:ea typeface="Calibri (MS)"/>
              <a:cs typeface="Calibri (MS)"/>
              <a:sym typeface="Calibri (MS)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CD3C498-0863-D80D-BDE6-CC04235DAE5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21767168"/>
              </p:ext>
            </p:extLst>
          </p:nvPr>
        </p:nvGraphicFramePr>
        <p:xfrm>
          <a:off x="876300" y="4217854"/>
          <a:ext cx="8191500" cy="2792548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047875">
                  <a:extLst>
                    <a:ext uri="{9D8B030D-6E8A-4147-A177-3AD203B41FA5}">
                      <a16:colId xmlns:a16="http://schemas.microsoft.com/office/drawing/2014/main" val="1396512017"/>
                    </a:ext>
                  </a:extLst>
                </a:gridCol>
                <a:gridCol w="2047875">
                  <a:extLst>
                    <a:ext uri="{9D8B030D-6E8A-4147-A177-3AD203B41FA5}">
                      <a16:colId xmlns:a16="http://schemas.microsoft.com/office/drawing/2014/main" val="2318221964"/>
                    </a:ext>
                  </a:extLst>
                </a:gridCol>
                <a:gridCol w="2047875">
                  <a:extLst>
                    <a:ext uri="{9D8B030D-6E8A-4147-A177-3AD203B41FA5}">
                      <a16:colId xmlns:a16="http://schemas.microsoft.com/office/drawing/2014/main" val="3282114021"/>
                    </a:ext>
                  </a:extLst>
                </a:gridCol>
                <a:gridCol w="2047875">
                  <a:extLst>
                    <a:ext uri="{9D8B030D-6E8A-4147-A177-3AD203B41FA5}">
                      <a16:colId xmlns:a16="http://schemas.microsoft.com/office/drawing/2014/main" val="1077128803"/>
                    </a:ext>
                  </a:extLst>
                </a:gridCol>
              </a:tblGrid>
              <a:tr h="698137">
                <a:tc>
                  <a:txBody>
                    <a:bodyPr/>
                    <a:lstStyle/>
                    <a:p>
                      <a:r>
                        <a:rPr lang="en-US" dirty="0"/>
                        <a:t>Model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Train Accuracy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Test Accuracy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ROC-AUC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02308899"/>
                  </a:ext>
                </a:extLst>
              </a:tr>
              <a:tr h="698137">
                <a:tc>
                  <a:txBody>
                    <a:bodyPr/>
                    <a:lstStyle/>
                    <a:p>
                      <a:r>
                        <a:rPr lang="en-US" dirty="0"/>
                        <a:t>Logistic Regression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57.35%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57.35%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72.73%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16860677"/>
                  </a:ext>
                </a:extLst>
              </a:tr>
              <a:tr h="698137">
                <a:tc>
                  <a:txBody>
                    <a:bodyPr/>
                    <a:lstStyle/>
                    <a:p>
                      <a:r>
                        <a:rPr lang="en-US"/>
                        <a:t>SVM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70.67%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60.90%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74.57%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0568240"/>
                  </a:ext>
                </a:extLst>
              </a:tr>
              <a:tr h="698137">
                <a:tc>
                  <a:txBody>
                    <a:bodyPr/>
                    <a:lstStyle/>
                    <a:p>
                      <a:r>
                        <a:rPr lang="en-US"/>
                        <a:t>Random Forest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95.76%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87.88%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99.93%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5579956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599455" y="304800"/>
            <a:ext cx="4610672" cy="6012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95"/>
              </a:lnSpc>
            </a:pPr>
            <a:r>
              <a:rPr lang="en-US" sz="3413" spc="-10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Best Model &amp; Justification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614304" y="1171575"/>
            <a:ext cx="8580973" cy="51553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1"/>
              </a:lnSpc>
            </a:pPr>
            <a:r>
              <a:rPr lang="en-US" sz="2559" spc="-10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🔹 Best Model &amp; Justification</a:t>
            </a:r>
          </a:p>
          <a:p>
            <a:pPr algn="l">
              <a:lnSpc>
                <a:spcPts val="3071"/>
              </a:lnSpc>
            </a:pPr>
            <a:r>
              <a:rPr lang="en-US" sz="2559" spc="-10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• Selected Model</a:t>
            </a:r>
          </a:p>
          <a:p>
            <a:pPr algn="l">
              <a:lnSpc>
                <a:spcPts val="3071"/>
              </a:lnSpc>
            </a:pPr>
            <a:r>
              <a:rPr lang="en-US" sz="2559" spc="-10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Random Forest Classifier</a:t>
            </a:r>
          </a:p>
          <a:p>
            <a:pPr algn="l">
              <a:lnSpc>
                <a:spcPts val="3071"/>
              </a:lnSpc>
            </a:pPr>
            <a:r>
              <a:rPr lang="en-US" sz="2559" spc="-10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Evaluation Metrics:</a:t>
            </a:r>
          </a:p>
          <a:p>
            <a:pPr marL="552703" lvl="1" indent="-276352" algn="l">
              <a:lnSpc>
                <a:spcPts val="3071"/>
              </a:lnSpc>
              <a:buFont typeface="Arial"/>
              <a:buChar char="•"/>
            </a:pPr>
            <a:r>
              <a:rPr lang="en-US" sz="2559" spc="-10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Train Accuracy: ~95%</a:t>
            </a:r>
          </a:p>
          <a:p>
            <a:pPr marL="552703" lvl="1" indent="-276352">
              <a:lnSpc>
                <a:spcPts val="3071"/>
              </a:lnSpc>
              <a:buFont typeface="Arial"/>
              <a:buChar char="•"/>
            </a:pPr>
            <a:r>
              <a:rPr lang="en-US" sz="2559" spc="-10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Train Accuracy: ~90%</a:t>
            </a:r>
          </a:p>
          <a:p>
            <a:pPr marL="552703" lvl="1" indent="-276352">
              <a:lnSpc>
                <a:spcPts val="3071"/>
              </a:lnSpc>
              <a:buFont typeface="Arial"/>
              <a:buChar char="•"/>
            </a:pPr>
            <a:r>
              <a:rPr lang="en-US" sz="2559" spc="-10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ROC-AUC: ~99%</a:t>
            </a:r>
          </a:p>
          <a:p>
            <a:pPr algn="l">
              <a:lnSpc>
                <a:spcPts val="3071"/>
              </a:lnSpc>
            </a:pPr>
            <a:r>
              <a:rPr lang="en-US" sz="2559" spc="-10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• Reason for Selection</a:t>
            </a:r>
          </a:p>
          <a:p>
            <a:pPr marL="552703" lvl="1" indent="-276352" algn="l">
              <a:lnSpc>
                <a:spcPts val="3071"/>
              </a:lnSpc>
              <a:buFont typeface="Arial"/>
              <a:buChar char="•"/>
            </a:pPr>
            <a:r>
              <a:rPr lang="en-US" sz="2559" spc="-10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Highest overall balanced performance</a:t>
            </a:r>
          </a:p>
          <a:p>
            <a:pPr marL="552703" lvl="1" indent="-276352" algn="l">
              <a:lnSpc>
                <a:spcPts val="3071"/>
              </a:lnSpc>
              <a:buFont typeface="Arial"/>
              <a:buChar char="•"/>
            </a:pPr>
            <a:r>
              <a:rPr lang="en-US" sz="2559" spc="-10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Handles overfitting better than Decision Tree</a:t>
            </a:r>
          </a:p>
          <a:p>
            <a:pPr marL="552703" lvl="1" indent="-276352" algn="l">
              <a:lnSpc>
                <a:spcPts val="3071"/>
              </a:lnSpc>
              <a:buFont typeface="Arial"/>
              <a:buChar char="•"/>
            </a:pPr>
            <a:r>
              <a:rPr lang="en-US" sz="2559" spc="-10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Works well with large &amp; complex datasets</a:t>
            </a:r>
          </a:p>
          <a:p>
            <a:pPr marL="552703" lvl="1" indent="-276352" algn="l">
              <a:lnSpc>
                <a:spcPts val="3071"/>
              </a:lnSpc>
              <a:buFont typeface="Arial"/>
              <a:buChar char="•"/>
            </a:pPr>
            <a:r>
              <a:rPr lang="en-US" sz="2559" spc="-10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Better performance on real-world data</a:t>
            </a:r>
          </a:p>
          <a:p>
            <a:pPr algn="l">
              <a:lnSpc>
                <a:spcPts val="3071"/>
              </a:lnSpc>
            </a:pPr>
            <a:endParaRPr lang="en-US" sz="2559" spc="-10" dirty="0">
              <a:solidFill>
                <a:srgbClr val="000000"/>
              </a:solidFill>
              <a:latin typeface="Calibri (MS)"/>
              <a:ea typeface="Calibri (MS)"/>
              <a:cs typeface="Calibri (MS)"/>
              <a:sym typeface="Calibri (MS)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325700" y="304800"/>
            <a:ext cx="3295936" cy="50988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095"/>
              </a:lnSpc>
            </a:pPr>
            <a:r>
              <a:rPr lang="en-US" sz="3413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Results &amp; Analysis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614305" y="1220743"/>
            <a:ext cx="8718726" cy="51553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1"/>
              </a:lnSpc>
            </a:pPr>
            <a:r>
              <a:rPr lang="en-US" sz="255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• Confusion Matrix</a:t>
            </a:r>
          </a:p>
          <a:p>
            <a:pPr marL="552703" lvl="1" indent="-276352" algn="l">
              <a:lnSpc>
                <a:spcPts val="3071"/>
              </a:lnSpc>
              <a:buFont typeface="Arial"/>
              <a:buChar char="•"/>
            </a:pPr>
            <a:r>
              <a:rPr lang="en-US" sz="255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Shows actual vs predicted values</a:t>
            </a:r>
          </a:p>
          <a:p>
            <a:pPr marL="552703" lvl="1" indent="-276352" algn="l">
              <a:lnSpc>
                <a:spcPts val="3071"/>
              </a:lnSpc>
              <a:buFont typeface="Arial"/>
              <a:buChar char="•"/>
            </a:pPr>
            <a:r>
              <a:rPr lang="en-US" sz="255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Most predictions are correct (high accuracy)</a:t>
            </a:r>
          </a:p>
          <a:p>
            <a:pPr algn="l">
              <a:lnSpc>
                <a:spcPts val="3071"/>
              </a:lnSpc>
            </a:pPr>
            <a:endParaRPr lang="en-US" sz="2559" dirty="0">
              <a:solidFill>
                <a:srgbClr val="000000"/>
              </a:solidFill>
              <a:latin typeface="Calibri (MS)"/>
              <a:ea typeface="Calibri (MS)"/>
              <a:cs typeface="Calibri (MS)"/>
              <a:sym typeface="Calibri (MS)"/>
            </a:endParaRPr>
          </a:p>
          <a:p>
            <a:pPr algn="l">
              <a:lnSpc>
                <a:spcPts val="3071"/>
              </a:lnSpc>
            </a:pPr>
            <a:r>
              <a:rPr lang="en-US" sz="255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• Graphs / Plots (Explanation)</a:t>
            </a:r>
          </a:p>
          <a:p>
            <a:pPr marL="552703" lvl="1" indent="-276352" algn="l">
              <a:lnSpc>
                <a:spcPts val="3071"/>
              </a:lnSpc>
              <a:buFont typeface="Arial"/>
              <a:buChar char="•"/>
            </a:pPr>
            <a:r>
              <a:rPr lang="en-US" sz="255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Accuracy graph shows Random Forest performs best</a:t>
            </a:r>
          </a:p>
          <a:p>
            <a:pPr marL="552703" lvl="1" indent="-276352" algn="l">
              <a:lnSpc>
                <a:spcPts val="3071"/>
              </a:lnSpc>
              <a:buFont typeface="Arial"/>
              <a:buChar char="•"/>
            </a:pPr>
            <a:r>
              <a:rPr lang="en-US" sz="255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Heatmap indicates crime hotspots in specific areas</a:t>
            </a:r>
          </a:p>
          <a:p>
            <a:pPr algn="l">
              <a:lnSpc>
                <a:spcPts val="3071"/>
              </a:lnSpc>
            </a:pPr>
            <a:endParaRPr lang="en-US" sz="2559" dirty="0">
              <a:solidFill>
                <a:srgbClr val="000000"/>
              </a:solidFill>
              <a:latin typeface="Calibri (MS)"/>
              <a:ea typeface="Calibri (MS)"/>
              <a:cs typeface="Calibri (MS)"/>
              <a:sym typeface="Calibri (MS)"/>
            </a:endParaRPr>
          </a:p>
          <a:p>
            <a:pPr algn="l">
              <a:lnSpc>
                <a:spcPts val="3071"/>
              </a:lnSpc>
            </a:pPr>
            <a:r>
              <a:rPr lang="en-US" sz="255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• Key Observations</a:t>
            </a:r>
          </a:p>
          <a:p>
            <a:pPr marL="552703" lvl="1" indent="-276352" algn="l">
              <a:lnSpc>
                <a:spcPts val="3071"/>
              </a:lnSpc>
              <a:buFont typeface="Arial"/>
              <a:buChar char="•"/>
            </a:pPr>
            <a:r>
              <a:rPr lang="en-US" sz="255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Model performs well on frequent crimes</a:t>
            </a:r>
          </a:p>
          <a:p>
            <a:pPr marL="552703" lvl="1" indent="-276352" algn="l">
              <a:lnSpc>
                <a:spcPts val="3071"/>
              </a:lnSpc>
              <a:buFont typeface="Arial"/>
              <a:buChar char="•"/>
            </a:pPr>
            <a:r>
              <a:rPr lang="en-US" sz="255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Lower accuracy for rare crime categories</a:t>
            </a:r>
          </a:p>
          <a:p>
            <a:pPr marL="552703" lvl="1" indent="-276352" algn="l">
              <a:lnSpc>
                <a:spcPts val="3071"/>
              </a:lnSpc>
              <a:buFont typeface="Arial"/>
              <a:buChar char="•"/>
            </a:pPr>
            <a:r>
              <a:rPr lang="en-US" sz="255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Overall system gives reliable results (~90% accuracy)</a:t>
            </a:r>
          </a:p>
          <a:p>
            <a:pPr algn="l">
              <a:lnSpc>
                <a:spcPts val="3071"/>
              </a:lnSpc>
            </a:pPr>
            <a:endParaRPr lang="en-US" sz="2559" dirty="0">
              <a:solidFill>
                <a:srgbClr val="000000"/>
              </a:solidFill>
              <a:latin typeface="Calibri (MS)"/>
              <a:ea typeface="Calibri (MS)"/>
              <a:cs typeface="Calibri (MS)"/>
              <a:sym typeface="Calibri (MS)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640995" y="331832"/>
            <a:ext cx="2533936" cy="50988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095"/>
              </a:lnSpc>
            </a:pPr>
            <a:r>
              <a:rPr lang="en-US" sz="3413" spc="-21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System Demo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614305" y="1220743"/>
            <a:ext cx="8587316" cy="5762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1"/>
              </a:lnSpc>
            </a:pPr>
            <a:r>
              <a:rPr lang="en-US" sz="2559" spc="-1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• Screenshots / Live Demo</a:t>
            </a:r>
          </a:p>
          <a:p>
            <a:pPr marL="552703" lvl="1" indent="-276352" algn="l">
              <a:lnSpc>
                <a:spcPts val="3071"/>
              </a:lnSpc>
              <a:buFont typeface="Arial"/>
              <a:buChar char="•"/>
            </a:pPr>
            <a:r>
              <a:rPr lang="en-US" sz="2559" spc="-1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Shows system interface &amp; workflow</a:t>
            </a:r>
          </a:p>
          <a:p>
            <a:pPr marL="552703" lvl="1" indent="-276352" algn="l">
              <a:lnSpc>
                <a:spcPts val="3071"/>
              </a:lnSpc>
              <a:buFont typeface="Arial"/>
              <a:buChar char="•"/>
            </a:pPr>
            <a:r>
              <a:rPr lang="en-US" sz="2559" spc="-1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Demonstrates data input and prediction process</a:t>
            </a:r>
          </a:p>
          <a:p>
            <a:pPr marL="552703" lvl="1" indent="-276352" algn="l">
              <a:lnSpc>
                <a:spcPts val="3071"/>
              </a:lnSpc>
              <a:buFont typeface="Arial"/>
              <a:buChar char="•"/>
            </a:pPr>
            <a:r>
              <a:rPr lang="en-US" sz="2559" spc="-1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Displays crime prediction &amp; hotspot results</a:t>
            </a:r>
          </a:p>
          <a:p>
            <a:pPr algn="l">
              <a:lnSpc>
                <a:spcPts val="3071"/>
              </a:lnSpc>
            </a:pPr>
            <a:endParaRPr lang="en-US" sz="2559" spc="-10">
              <a:solidFill>
                <a:srgbClr val="000000"/>
              </a:solidFill>
              <a:latin typeface="Calibri (MS)"/>
              <a:ea typeface="Calibri (MS)"/>
              <a:cs typeface="Calibri (MS)"/>
              <a:sym typeface="Calibri (MS)"/>
            </a:endParaRPr>
          </a:p>
          <a:p>
            <a:pPr algn="l">
              <a:lnSpc>
                <a:spcPts val="3071"/>
              </a:lnSpc>
            </a:pPr>
            <a:r>
              <a:rPr lang="en-US" sz="2559" spc="-1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• Input – Output Examples</a:t>
            </a:r>
          </a:p>
          <a:p>
            <a:pPr algn="l">
              <a:lnSpc>
                <a:spcPts val="3071"/>
              </a:lnSpc>
            </a:pPr>
            <a:r>
              <a:rPr lang="en-US" sz="2559" spc="-1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Input:</a:t>
            </a:r>
          </a:p>
          <a:p>
            <a:pPr marL="552703" lvl="1" indent="-276352" algn="l">
              <a:lnSpc>
                <a:spcPts val="3071"/>
              </a:lnSpc>
              <a:buFont typeface="Arial"/>
              <a:buChar char="•"/>
            </a:pPr>
            <a:r>
              <a:rPr lang="en-US" sz="2559" spc="-1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Location: Mumbai</a:t>
            </a:r>
          </a:p>
          <a:p>
            <a:pPr marL="552703" lvl="1" indent="-276352" algn="l">
              <a:lnSpc>
                <a:spcPts val="3071"/>
              </a:lnSpc>
              <a:buFont typeface="Arial"/>
              <a:buChar char="•"/>
            </a:pPr>
            <a:r>
              <a:rPr lang="en-US" sz="2559" spc="-1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Time: Night</a:t>
            </a:r>
          </a:p>
          <a:p>
            <a:pPr marL="552703" lvl="1" indent="-276352" algn="l">
              <a:lnSpc>
                <a:spcPts val="3071"/>
              </a:lnSpc>
              <a:buFont typeface="Arial"/>
              <a:buChar char="•"/>
            </a:pPr>
            <a:r>
              <a:rPr lang="en-US" sz="2559" spc="-1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Coordinates: (Lat, Long)</a:t>
            </a:r>
          </a:p>
          <a:p>
            <a:pPr algn="l">
              <a:lnSpc>
                <a:spcPts val="3071"/>
              </a:lnSpc>
            </a:pPr>
            <a:endParaRPr lang="en-US" sz="2559" spc="-10">
              <a:solidFill>
                <a:srgbClr val="000000"/>
              </a:solidFill>
              <a:latin typeface="Calibri (MS)"/>
              <a:ea typeface="Calibri (MS)"/>
              <a:cs typeface="Calibri (MS)"/>
              <a:sym typeface="Calibri (MS)"/>
            </a:endParaRPr>
          </a:p>
          <a:p>
            <a:pPr algn="l">
              <a:lnSpc>
                <a:spcPts val="3071"/>
              </a:lnSpc>
            </a:pPr>
            <a:r>
              <a:rPr lang="en-US" sz="2559" spc="-1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Output:</a:t>
            </a:r>
          </a:p>
          <a:p>
            <a:pPr marL="552703" lvl="1" indent="-276352" algn="l">
              <a:lnSpc>
                <a:spcPts val="3071"/>
              </a:lnSpc>
              <a:buFont typeface="Arial"/>
              <a:buChar char="•"/>
            </a:pPr>
            <a:r>
              <a:rPr lang="en-US" sz="2559" spc="-1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Predicted Crime: Theft</a:t>
            </a:r>
          </a:p>
          <a:p>
            <a:pPr marL="552703" lvl="1" indent="-276352" algn="l">
              <a:lnSpc>
                <a:spcPts val="3071"/>
              </a:lnSpc>
              <a:buFont typeface="Arial"/>
              <a:buChar char="•"/>
            </a:pPr>
            <a:r>
              <a:rPr lang="en-US" sz="2559" spc="-1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Hotspot: High-risk area identified</a:t>
            </a:r>
          </a:p>
          <a:p>
            <a:pPr algn="l">
              <a:lnSpc>
                <a:spcPts val="3071"/>
              </a:lnSpc>
            </a:pPr>
            <a:endParaRPr lang="en-US" sz="2559" spc="-10">
              <a:solidFill>
                <a:srgbClr val="000000"/>
              </a:solidFill>
              <a:latin typeface="Calibri (MS)"/>
              <a:ea typeface="Calibri (MS)"/>
              <a:cs typeface="Calibri (MS)"/>
              <a:sym typeface="Calibri (MS)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724132" y="304800"/>
            <a:ext cx="2305336" cy="50988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095"/>
              </a:lnSpc>
            </a:pPr>
            <a:r>
              <a:rPr lang="en-US" sz="3413" spc="-10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Contribution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614305" y="1220743"/>
            <a:ext cx="8407775" cy="4619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1"/>
              </a:lnSpc>
            </a:pPr>
            <a:r>
              <a:rPr lang="en-US" sz="255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• What is New in Our Work</a:t>
            </a:r>
          </a:p>
          <a:p>
            <a:pPr marL="552703" lvl="1" indent="-276352" algn="l">
              <a:lnSpc>
                <a:spcPts val="3071"/>
              </a:lnSpc>
              <a:buFont typeface="Arial"/>
              <a:buChar char="•"/>
            </a:pPr>
            <a:r>
              <a:rPr lang="en-US" sz="255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Integrated crime prediction + hotspot detection</a:t>
            </a:r>
          </a:p>
          <a:p>
            <a:pPr marL="552703" lvl="1" indent="-276352" algn="l">
              <a:lnSpc>
                <a:spcPts val="3071"/>
              </a:lnSpc>
              <a:buFont typeface="Arial"/>
              <a:buChar char="•"/>
            </a:pPr>
            <a:r>
              <a:rPr lang="en-US" sz="255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Used multiple ML models for better comparison</a:t>
            </a:r>
          </a:p>
          <a:p>
            <a:pPr marL="552703" lvl="1" indent="-276352" algn="l">
              <a:lnSpc>
                <a:spcPts val="3071"/>
              </a:lnSpc>
              <a:buFont typeface="Arial"/>
              <a:buChar char="•"/>
            </a:pPr>
            <a:r>
              <a:rPr lang="en-US" sz="255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Applied feature engineering for improved inputs</a:t>
            </a:r>
          </a:p>
          <a:p>
            <a:pPr algn="l">
              <a:lnSpc>
                <a:spcPts val="3071"/>
              </a:lnSpc>
            </a:pPr>
            <a:endParaRPr lang="en-US" sz="2559">
              <a:solidFill>
                <a:srgbClr val="000000"/>
              </a:solidFill>
              <a:latin typeface="Calibri (MS)"/>
              <a:ea typeface="Calibri (MS)"/>
              <a:cs typeface="Calibri (MS)"/>
              <a:sym typeface="Calibri (MS)"/>
            </a:endParaRPr>
          </a:p>
          <a:p>
            <a:pPr algn="l">
              <a:lnSpc>
                <a:spcPts val="3071"/>
              </a:lnSpc>
            </a:pPr>
            <a:r>
              <a:rPr lang="en-US" sz="255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• Improvements Over Existing Methods</a:t>
            </a:r>
          </a:p>
          <a:p>
            <a:pPr marL="552703" lvl="1" indent="-276352" algn="l">
              <a:lnSpc>
                <a:spcPts val="3071"/>
              </a:lnSpc>
              <a:buFont typeface="Arial"/>
              <a:buChar char="•"/>
            </a:pPr>
            <a:r>
              <a:rPr lang="en-US" sz="255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Better data preprocessing → cleaner dataset</a:t>
            </a:r>
          </a:p>
          <a:p>
            <a:pPr marL="552703" lvl="1" indent="-276352" algn="l">
              <a:lnSpc>
                <a:spcPts val="3071"/>
              </a:lnSpc>
              <a:buFont typeface="Arial"/>
              <a:buChar char="•"/>
            </a:pPr>
            <a:r>
              <a:rPr lang="en-US" sz="255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Improved accuracy &amp; stability</a:t>
            </a:r>
          </a:p>
          <a:p>
            <a:pPr marL="552703" lvl="1" indent="-276352" algn="l">
              <a:lnSpc>
                <a:spcPts val="3071"/>
              </a:lnSpc>
              <a:buFont typeface="Arial"/>
              <a:buChar char="•"/>
            </a:pPr>
            <a:r>
              <a:rPr lang="en-US" sz="255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Reduced overfitting using Random Forest</a:t>
            </a:r>
          </a:p>
          <a:p>
            <a:pPr marL="552703" lvl="1" indent="-276352" algn="l">
              <a:lnSpc>
                <a:spcPts val="3071"/>
              </a:lnSpc>
              <a:buFont typeface="Arial"/>
              <a:buChar char="•"/>
            </a:pPr>
            <a:r>
              <a:rPr lang="en-US" sz="255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Handles multiple features (time + location + type)</a:t>
            </a:r>
          </a:p>
          <a:p>
            <a:pPr algn="l">
              <a:lnSpc>
                <a:spcPts val="3071"/>
              </a:lnSpc>
            </a:pPr>
            <a:endParaRPr lang="en-US" sz="2559">
              <a:solidFill>
                <a:srgbClr val="000000"/>
              </a:solidFill>
              <a:latin typeface="Calibri (MS)"/>
              <a:ea typeface="Calibri (MS)"/>
              <a:cs typeface="Calibri (MS)"/>
              <a:sym typeface="Calibri (MS)"/>
            </a:endParaRPr>
          </a:p>
          <a:p>
            <a:pPr algn="l">
              <a:lnSpc>
                <a:spcPts val="3071"/>
              </a:lnSpc>
            </a:pPr>
            <a:endParaRPr lang="en-US" sz="2559">
              <a:solidFill>
                <a:srgbClr val="000000"/>
              </a:solidFill>
              <a:latin typeface="Calibri (MS)"/>
              <a:ea typeface="Calibri (MS)"/>
              <a:cs typeface="Calibri (MS)"/>
              <a:sym typeface="Calibri (MS)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847832" y="381000"/>
            <a:ext cx="4057936" cy="50988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095"/>
              </a:lnSpc>
            </a:pPr>
            <a:r>
              <a:rPr lang="en-US" sz="3413" spc="-10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Challenges &amp; Solutions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614305" y="1220743"/>
            <a:ext cx="8407775" cy="47577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1"/>
              </a:lnSpc>
            </a:pPr>
            <a:r>
              <a:rPr lang="en-US" sz="255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• Problems Faced</a:t>
            </a:r>
          </a:p>
          <a:p>
            <a:pPr marL="552703" lvl="1" indent="-276352" algn="l">
              <a:lnSpc>
                <a:spcPts val="3071"/>
              </a:lnSpc>
              <a:buFont typeface="Arial"/>
              <a:buChar char="•"/>
            </a:pPr>
            <a:r>
              <a:rPr lang="en-US" sz="255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Missing / incomplete data</a:t>
            </a:r>
          </a:p>
          <a:p>
            <a:pPr marL="552703" lvl="1" indent="-276352" algn="l">
              <a:lnSpc>
                <a:spcPts val="3071"/>
              </a:lnSpc>
              <a:buFont typeface="Arial"/>
              <a:buChar char="•"/>
            </a:pPr>
            <a:r>
              <a:rPr lang="en-US" sz="255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Imbalanced dataset (rare crimes)</a:t>
            </a:r>
          </a:p>
          <a:p>
            <a:pPr marL="552703" lvl="1" indent="-276352" algn="l">
              <a:lnSpc>
                <a:spcPts val="3071"/>
              </a:lnSpc>
              <a:buFont typeface="Arial"/>
              <a:buChar char="•"/>
            </a:pPr>
            <a:r>
              <a:rPr lang="en-US" sz="255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Model overfitting</a:t>
            </a:r>
          </a:p>
          <a:p>
            <a:pPr marL="552703" lvl="1" indent="-276352" algn="l">
              <a:lnSpc>
                <a:spcPts val="3071"/>
              </a:lnSpc>
              <a:buFont typeface="Arial"/>
              <a:buChar char="•"/>
            </a:pPr>
            <a:r>
              <a:rPr lang="en-US" sz="255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Selecting best algorithm</a:t>
            </a:r>
          </a:p>
          <a:p>
            <a:pPr algn="l">
              <a:lnSpc>
                <a:spcPts val="3071"/>
              </a:lnSpc>
            </a:pPr>
            <a:endParaRPr lang="en-US" sz="2559" dirty="0">
              <a:solidFill>
                <a:srgbClr val="000000"/>
              </a:solidFill>
              <a:latin typeface="Calibri (MS)"/>
              <a:ea typeface="Calibri (MS)"/>
              <a:cs typeface="Calibri (MS)"/>
              <a:sym typeface="Calibri (MS)"/>
            </a:endParaRPr>
          </a:p>
          <a:p>
            <a:pPr algn="l">
              <a:lnSpc>
                <a:spcPts val="3071"/>
              </a:lnSpc>
            </a:pPr>
            <a:r>
              <a:rPr lang="en-US" sz="255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• Solutions</a:t>
            </a:r>
          </a:p>
          <a:p>
            <a:pPr marL="552703" lvl="1" indent="-276352" algn="l">
              <a:lnSpc>
                <a:spcPts val="3071"/>
              </a:lnSpc>
              <a:buFont typeface="Arial"/>
              <a:buChar char="•"/>
            </a:pPr>
            <a:r>
              <a:rPr lang="en-US" sz="255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Handled missing values (remove/fill)</a:t>
            </a:r>
          </a:p>
          <a:p>
            <a:pPr marL="552703" lvl="1" indent="-276352" algn="l">
              <a:lnSpc>
                <a:spcPts val="3071"/>
              </a:lnSpc>
              <a:buFont typeface="Arial"/>
              <a:buChar char="•"/>
            </a:pPr>
            <a:r>
              <a:rPr lang="en-US" sz="255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Used preprocessing &amp; feature selection</a:t>
            </a:r>
          </a:p>
          <a:p>
            <a:pPr marL="552703" lvl="1" indent="-276352" algn="l">
              <a:lnSpc>
                <a:spcPts val="3071"/>
              </a:lnSpc>
              <a:buFont typeface="Arial"/>
              <a:buChar char="•"/>
            </a:pPr>
            <a:r>
              <a:rPr lang="en-US" sz="255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Applied Random Forest to reduce overfitting</a:t>
            </a:r>
          </a:p>
          <a:p>
            <a:pPr marL="552703" lvl="1" indent="-276352" algn="l">
              <a:lnSpc>
                <a:spcPts val="3071"/>
              </a:lnSpc>
              <a:buFont typeface="Arial"/>
              <a:buChar char="•"/>
            </a:pPr>
            <a:r>
              <a:rPr lang="en-US" sz="255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Used hyperparameter tuning (</a:t>
            </a:r>
            <a:r>
              <a:rPr lang="en-US" sz="2559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GridSearchCV</a:t>
            </a:r>
            <a:r>
              <a:rPr lang="en-US" sz="255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)</a:t>
            </a:r>
          </a:p>
          <a:p>
            <a:pPr algn="l">
              <a:lnSpc>
                <a:spcPts val="3071"/>
              </a:lnSpc>
            </a:pPr>
            <a:endParaRPr lang="en-US" sz="2559" dirty="0">
              <a:solidFill>
                <a:srgbClr val="000000"/>
              </a:solidFill>
              <a:latin typeface="Calibri (MS)"/>
              <a:ea typeface="Calibri (MS)"/>
              <a:cs typeface="Calibri (MS)"/>
              <a:sym typeface="Calibri (MS)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762232" y="304800"/>
            <a:ext cx="2229136" cy="50988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095"/>
              </a:lnSpc>
            </a:pPr>
            <a:r>
              <a:rPr lang="en-US" sz="3413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Future Work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614305" y="1220743"/>
            <a:ext cx="8407775" cy="43602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1"/>
              </a:lnSpc>
            </a:pPr>
            <a:r>
              <a:rPr lang="en-US" sz="2559" spc="-10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• Possible Improvements</a:t>
            </a:r>
          </a:p>
          <a:p>
            <a:pPr marL="552703" lvl="1" indent="-276352" algn="l">
              <a:lnSpc>
                <a:spcPts val="3071"/>
              </a:lnSpc>
              <a:buFont typeface="Arial"/>
              <a:buChar char="•"/>
            </a:pPr>
            <a:r>
              <a:rPr lang="en-US" sz="2559" spc="-10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Use deep learning models for higher accuracy</a:t>
            </a:r>
          </a:p>
          <a:p>
            <a:pPr marL="552703" lvl="1" indent="-276352" algn="l">
              <a:lnSpc>
                <a:spcPts val="3071"/>
              </a:lnSpc>
              <a:buFont typeface="Arial"/>
              <a:buChar char="•"/>
            </a:pPr>
            <a:r>
              <a:rPr lang="en-US" sz="2559" spc="-10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Improve prediction for rare crime categories</a:t>
            </a:r>
          </a:p>
          <a:p>
            <a:pPr marL="552703" lvl="1" indent="-276352" algn="l">
              <a:lnSpc>
                <a:spcPts val="3071"/>
              </a:lnSpc>
              <a:buFont typeface="Arial"/>
              <a:buChar char="•"/>
            </a:pPr>
            <a:r>
              <a:rPr lang="en-US" sz="2559" spc="-10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Enhance data quality &amp; size</a:t>
            </a:r>
          </a:p>
          <a:p>
            <a:pPr marL="552703" lvl="1" indent="-276352" algn="l">
              <a:lnSpc>
                <a:spcPts val="3071"/>
              </a:lnSpc>
              <a:buFont typeface="Arial"/>
              <a:buChar char="•"/>
            </a:pPr>
            <a:r>
              <a:rPr lang="en-US" sz="2559" spc="-10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Add more real-time data sources</a:t>
            </a:r>
          </a:p>
          <a:p>
            <a:pPr algn="l">
              <a:lnSpc>
                <a:spcPts val="3071"/>
              </a:lnSpc>
            </a:pPr>
            <a:endParaRPr lang="en-US" sz="2559" spc="-10" dirty="0">
              <a:solidFill>
                <a:srgbClr val="000000"/>
              </a:solidFill>
              <a:latin typeface="Calibri (MS)"/>
              <a:ea typeface="Calibri (MS)"/>
              <a:cs typeface="Calibri (MS)"/>
              <a:sym typeface="Calibri (MS)"/>
            </a:endParaRPr>
          </a:p>
          <a:p>
            <a:pPr algn="l">
              <a:lnSpc>
                <a:spcPts val="3071"/>
              </a:lnSpc>
            </a:pPr>
            <a:r>
              <a:rPr lang="en-US" sz="2559" spc="-10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• Extension Ideas</a:t>
            </a:r>
          </a:p>
          <a:p>
            <a:pPr marL="552703" lvl="1" indent="-276352" algn="l">
              <a:lnSpc>
                <a:spcPts val="3071"/>
              </a:lnSpc>
              <a:buFont typeface="Arial"/>
              <a:buChar char="•"/>
            </a:pPr>
            <a:r>
              <a:rPr lang="en-US" sz="2559" spc="-10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Develop real-time crime prediction system</a:t>
            </a:r>
          </a:p>
          <a:p>
            <a:pPr marL="552703" lvl="1" indent="-276352" algn="l">
              <a:lnSpc>
                <a:spcPts val="3071"/>
              </a:lnSpc>
              <a:buFont typeface="Arial"/>
              <a:buChar char="•"/>
            </a:pPr>
            <a:r>
              <a:rPr lang="en-US" sz="2559" spc="-10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Create a mobile/web application</a:t>
            </a:r>
          </a:p>
          <a:p>
            <a:pPr marL="552703" lvl="1" indent="-276352" algn="l">
              <a:lnSpc>
                <a:spcPts val="3071"/>
              </a:lnSpc>
              <a:buFont typeface="Arial"/>
              <a:buChar char="•"/>
            </a:pPr>
            <a:r>
              <a:rPr lang="en-US" sz="2559" spc="-10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Use live maps for hotspot visualization</a:t>
            </a:r>
          </a:p>
          <a:p>
            <a:pPr algn="l">
              <a:lnSpc>
                <a:spcPts val="3071"/>
              </a:lnSpc>
            </a:pPr>
            <a:endParaRPr lang="en-US" sz="2559" spc="-10" dirty="0">
              <a:solidFill>
                <a:srgbClr val="000000"/>
              </a:solidFill>
              <a:latin typeface="Calibri (MS)"/>
              <a:ea typeface="Calibri (MS)"/>
              <a:cs typeface="Calibri (MS)"/>
              <a:sym typeface="Calibri (MS)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571464" y="381000"/>
            <a:ext cx="4610672" cy="6012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95"/>
              </a:lnSpc>
            </a:pPr>
            <a:r>
              <a:rPr lang="en-US" sz="3413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Research Paper Overview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614305" y="1220743"/>
            <a:ext cx="7286292" cy="5000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1"/>
              </a:lnSpc>
            </a:pPr>
            <a:r>
              <a:rPr lang="en-US" sz="255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• Paper Structure Followed</a:t>
            </a:r>
          </a:p>
          <a:p>
            <a:pPr marL="552703" lvl="1" indent="-276352" algn="l">
              <a:lnSpc>
                <a:spcPts val="3071"/>
              </a:lnSpc>
              <a:buFont typeface="Arial"/>
              <a:buChar char="•"/>
            </a:pPr>
            <a:r>
              <a:rPr lang="en-US" sz="255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Abstract</a:t>
            </a:r>
          </a:p>
          <a:p>
            <a:pPr marL="552703" lvl="1" indent="-276352" algn="l">
              <a:lnSpc>
                <a:spcPts val="3071"/>
              </a:lnSpc>
              <a:buFont typeface="Arial"/>
              <a:buChar char="•"/>
            </a:pPr>
            <a:r>
              <a:rPr lang="en-US" sz="255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Introduction</a:t>
            </a:r>
          </a:p>
          <a:p>
            <a:pPr marL="552703" lvl="1" indent="-276352" algn="l">
              <a:lnSpc>
                <a:spcPts val="3071"/>
              </a:lnSpc>
              <a:buFont typeface="Arial"/>
              <a:buChar char="•"/>
            </a:pPr>
            <a:r>
              <a:rPr lang="en-US" sz="255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Literature Survey</a:t>
            </a:r>
          </a:p>
          <a:p>
            <a:pPr marL="552703" lvl="1" indent="-276352" algn="l">
              <a:lnSpc>
                <a:spcPts val="3071"/>
              </a:lnSpc>
              <a:buFont typeface="Arial"/>
              <a:buChar char="•"/>
            </a:pPr>
            <a:r>
              <a:rPr lang="en-US" sz="255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Methodology</a:t>
            </a:r>
          </a:p>
          <a:p>
            <a:pPr marL="552703" lvl="1" indent="-276352" algn="l">
              <a:lnSpc>
                <a:spcPts val="3071"/>
              </a:lnSpc>
              <a:buFont typeface="Arial"/>
              <a:buChar char="•"/>
            </a:pPr>
            <a:r>
              <a:rPr lang="en-US" sz="255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Results &amp; Analysis</a:t>
            </a:r>
          </a:p>
          <a:p>
            <a:pPr marL="552703" lvl="1" indent="-276352" algn="l">
              <a:lnSpc>
                <a:spcPts val="3071"/>
              </a:lnSpc>
              <a:buFont typeface="Arial"/>
              <a:buChar char="•"/>
            </a:pPr>
            <a:r>
              <a:rPr lang="en-US" sz="255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Conclusion &amp; Future Work</a:t>
            </a:r>
          </a:p>
          <a:p>
            <a:pPr algn="l">
              <a:lnSpc>
                <a:spcPts val="3071"/>
              </a:lnSpc>
            </a:pPr>
            <a:endParaRPr lang="en-US" sz="2559" dirty="0">
              <a:solidFill>
                <a:srgbClr val="000000"/>
              </a:solidFill>
              <a:latin typeface="Calibri (MS)"/>
              <a:ea typeface="Calibri (MS)"/>
              <a:cs typeface="Calibri (MS)"/>
              <a:sym typeface="Calibri (MS)"/>
            </a:endParaRPr>
          </a:p>
          <a:p>
            <a:pPr algn="l">
              <a:lnSpc>
                <a:spcPts val="3071"/>
              </a:lnSpc>
            </a:pPr>
            <a:r>
              <a:rPr lang="en-US" sz="255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• Target Conference / Journal</a:t>
            </a:r>
          </a:p>
          <a:p>
            <a:pPr marL="552703" lvl="1" indent="-276352" algn="l">
              <a:lnSpc>
                <a:spcPts val="3071"/>
              </a:lnSpc>
              <a:buFont typeface="Arial"/>
              <a:buChar char="•"/>
            </a:pPr>
            <a:r>
              <a:rPr lang="en-US" sz="255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IEEE Conference / Journal</a:t>
            </a:r>
          </a:p>
          <a:p>
            <a:pPr marL="552703" lvl="1" indent="-276352" algn="l">
              <a:lnSpc>
                <a:spcPts val="3071"/>
              </a:lnSpc>
              <a:buFont typeface="Arial"/>
              <a:buChar char="•"/>
            </a:pPr>
            <a:r>
              <a:rPr lang="en-US" sz="255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Springer Conference</a:t>
            </a:r>
          </a:p>
          <a:p>
            <a:pPr marL="552703" lvl="1" indent="-276352" algn="l">
              <a:lnSpc>
                <a:spcPts val="3071"/>
              </a:lnSpc>
              <a:buFont typeface="Arial"/>
              <a:buChar char="•"/>
            </a:pPr>
            <a:r>
              <a:rPr lang="en-US" sz="255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Elsevier Journals</a:t>
            </a:r>
          </a:p>
          <a:p>
            <a:pPr algn="l">
              <a:lnSpc>
                <a:spcPts val="3071"/>
              </a:lnSpc>
            </a:pPr>
            <a:endParaRPr lang="en-US" sz="2559" dirty="0">
              <a:solidFill>
                <a:srgbClr val="000000"/>
              </a:solidFill>
              <a:latin typeface="Calibri (MS)"/>
              <a:ea typeface="Calibri (MS)"/>
              <a:cs typeface="Calibri (MS)"/>
              <a:sym typeface="Calibri (MS)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038332" y="457200"/>
            <a:ext cx="3676936" cy="50988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095"/>
              </a:lnSpc>
            </a:pPr>
            <a:r>
              <a:rPr lang="en-US" sz="3413" spc="-10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Phase-3 Deliverables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533400" y="1905000"/>
            <a:ext cx="7080399" cy="2333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43002" lvl="1" indent="-171501" algn="l">
              <a:lnSpc>
                <a:spcPts val="3071"/>
              </a:lnSpc>
              <a:buFont typeface="Arial"/>
              <a:buChar char="•"/>
            </a:pPr>
            <a:r>
              <a:rPr lang="en-US" sz="255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Final Project PPT</a:t>
            </a:r>
          </a:p>
          <a:p>
            <a:pPr marL="343002" lvl="1" indent="-171501" algn="l">
              <a:lnSpc>
                <a:spcPts val="3071"/>
              </a:lnSpc>
              <a:buFont typeface="Arial"/>
              <a:buChar char="•"/>
            </a:pPr>
            <a:r>
              <a:rPr lang="en-US" sz="255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Working Code (</a:t>
            </a:r>
            <a:r>
              <a:rPr lang="en-US" sz="2559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Jupyter</a:t>
            </a:r>
            <a:r>
              <a:rPr lang="en-US" sz="255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Notebook)</a:t>
            </a:r>
          </a:p>
          <a:p>
            <a:pPr marL="343002" lvl="1" indent="-171501" algn="l">
              <a:lnSpc>
                <a:spcPts val="3071"/>
              </a:lnSpc>
              <a:buFont typeface="Arial"/>
              <a:buChar char="•"/>
            </a:pPr>
            <a:r>
              <a:rPr lang="en-US" sz="255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Dataset (Kaggle crime data)</a:t>
            </a:r>
          </a:p>
          <a:p>
            <a:pPr marL="343002" lvl="1" indent="-171501" algn="l">
              <a:lnSpc>
                <a:spcPts val="3071"/>
              </a:lnSpc>
              <a:buFont typeface="Arial"/>
              <a:buChar char="•"/>
            </a:pPr>
            <a:r>
              <a:rPr lang="en-US" sz="255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GitHub Repository (code + documentation)</a:t>
            </a:r>
          </a:p>
          <a:p>
            <a:pPr marL="343002" lvl="1" indent="-171501" algn="l">
              <a:lnSpc>
                <a:spcPts val="3071"/>
              </a:lnSpc>
              <a:buFont typeface="Arial"/>
              <a:buChar char="•"/>
            </a:pPr>
            <a:r>
              <a:rPr lang="en-US" sz="255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Research Paper (Mandatory)</a:t>
            </a:r>
          </a:p>
          <a:p>
            <a:pPr algn="l">
              <a:lnSpc>
                <a:spcPts val="3071"/>
              </a:lnSpc>
            </a:pPr>
            <a:endParaRPr lang="en-US" sz="2559" dirty="0">
              <a:solidFill>
                <a:srgbClr val="000000"/>
              </a:solidFill>
              <a:latin typeface="Calibri (MS)"/>
              <a:ea typeface="Calibri (MS)"/>
              <a:cs typeface="Calibri (MS)"/>
              <a:sym typeface="Calibri (MS)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912859" y="150516"/>
            <a:ext cx="1927882" cy="5810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95"/>
              </a:lnSpc>
            </a:pPr>
            <a:r>
              <a:rPr lang="en-US" sz="3413" spc="-1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Conclusion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221130" y="1202055"/>
            <a:ext cx="7311340" cy="5381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1"/>
              </a:lnSpc>
            </a:pPr>
            <a:r>
              <a:rPr lang="en-US" sz="255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• Summary of Work</a:t>
            </a:r>
          </a:p>
          <a:p>
            <a:pPr marL="552703" lvl="1" indent="-276352" algn="l">
              <a:lnSpc>
                <a:spcPts val="3071"/>
              </a:lnSpc>
              <a:buFont typeface="Arial"/>
              <a:buChar char="•"/>
            </a:pPr>
            <a:r>
              <a:rPr lang="en-US" sz="255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Developed ML-based crime prediction system</a:t>
            </a:r>
          </a:p>
          <a:p>
            <a:pPr marL="552703" lvl="1" indent="-276352" algn="l">
              <a:lnSpc>
                <a:spcPts val="3071"/>
              </a:lnSpc>
              <a:buFont typeface="Arial"/>
              <a:buChar char="•"/>
            </a:pPr>
            <a:r>
              <a:rPr lang="en-US" sz="255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Used preprocessing &amp; feature engineering</a:t>
            </a:r>
          </a:p>
          <a:p>
            <a:pPr marL="552703" lvl="1" indent="-276352" algn="l">
              <a:lnSpc>
                <a:spcPts val="3071"/>
              </a:lnSpc>
              <a:buFont typeface="Arial"/>
              <a:buChar char="•"/>
            </a:pPr>
            <a:r>
              <a:rPr lang="en-US" sz="255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Compared multiple models</a:t>
            </a:r>
          </a:p>
          <a:p>
            <a:pPr marL="552703" lvl="1" indent="-276352" algn="l">
              <a:lnSpc>
                <a:spcPts val="3071"/>
              </a:lnSpc>
              <a:buFont typeface="Arial"/>
              <a:buChar char="•"/>
            </a:pPr>
            <a:r>
              <a:rPr lang="en-US" sz="255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Selected Random Forest as best model</a:t>
            </a:r>
          </a:p>
          <a:p>
            <a:pPr marL="552703" lvl="1" indent="-276352" algn="l">
              <a:lnSpc>
                <a:spcPts val="3071"/>
              </a:lnSpc>
              <a:buFont typeface="Arial"/>
              <a:buChar char="•"/>
            </a:pPr>
            <a:r>
              <a:rPr lang="en-US" sz="255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Achieved ~90% accuracy with reliable results</a:t>
            </a:r>
          </a:p>
          <a:p>
            <a:pPr algn="l">
              <a:lnSpc>
                <a:spcPts val="3071"/>
              </a:lnSpc>
            </a:pPr>
            <a:endParaRPr lang="en-US" sz="2559" dirty="0">
              <a:solidFill>
                <a:srgbClr val="000000"/>
              </a:solidFill>
              <a:latin typeface="Calibri (MS)"/>
              <a:ea typeface="Calibri (MS)"/>
              <a:cs typeface="Calibri (MS)"/>
              <a:sym typeface="Calibri (MS)"/>
            </a:endParaRPr>
          </a:p>
          <a:p>
            <a:pPr algn="l">
              <a:lnSpc>
                <a:spcPts val="3071"/>
              </a:lnSpc>
            </a:pPr>
            <a:r>
              <a:rPr lang="en-US" sz="255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• Key Learnings</a:t>
            </a:r>
          </a:p>
          <a:p>
            <a:pPr marL="552703" lvl="1" indent="-276352" algn="l">
              <a:lnSpc>
                <a:spcPts val="3071"/>
              </a:lnSpc>
              <a:buFont typeface="Arial"/>
              <a:buChar char="•"/>
            </a:pPr>
            <a:r>
              <a:rPr lang="en-US" sz="255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Importance of data preprocessing</a:t>
            </a:r>
          </a:p>
          <a:p>
            <a:pPr marL="552703" lvl="1" indent="-276352" algn="l">
              <a:lnSpc>
                <a:spcPts val="3071"/>
              </a:lnSpc>
              <a:buFont typeface="Arial"/>
              <a:buChar char="•"/>
            </a:pPr>
            <a:r>
              <a:rPr lang="en-US" sz="255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Understanding ML models &amp; evaluation metrics</a:t>
            </a:r>
          </a:p>
          <a:p>
            <a:pPr marL="552703" lvl="1" indent="-276352" algn="l">
              <a:lnSpc>
                <a:spcPts val="3071"/>
              </a:lnSpc>
              <a:buFont typeface="Arial"/>
              <a:buChar char="•"/>
            </a:pPr>
            <a:r>
              <a:rPr lang="en-US" sz="255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Handling imbalanced datasets</a:t>
            </a:r>
          </a:p>
          <a:p>
            <a:pPr marL="552703" lvl="1" indent="-276352" algn="l">
              <a:lnSpc>
                <a:spcPts val="3071"/>
              </a:lnSpc>
              <a:buFont typeface="Arial"/>
              <a:buChar char="•"/>
            </a:pPr>
            <a:r>
              <a:rPr lang="en-US" sz="255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Model tuning improves performance</a:t>
            </a:r>
          </a:p>
          <a:p>
            <a:pPr marL="552703" lvl="1" indent="-276352" algn="l">
              <a:lnSpc>
                <a:spcPts val="3071"/>
              </a:lnSpc>
              <a:buFont typeface="Arial"/>
              <a:buChar char="•"/>
            </a:pPr>
            <a:r>
              <a:rPr lang="en-US" sz="255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Real-world application of ML</a:t>
            </a:r>
          </a:p>
          <a:p>
            <a:pPr algn="l">
              <a:lnSpc>
                <a:spcPts val="3071"/>
              </a:lnSpc>
            </a:pPr>
            <a:endParaRPr lang="en-US" sz="2559" dirty="0">
              <a:solidFill>
                <a:srgbClr val="000000"/>
              </a:solidFill>
              <a:latin typeface="Calibri (MS)"/>
              <a:ea typeface="Calibri (MS)"/>
              <a:cs typeface="Calibri (MS)"/>
              <a:sym typeface="Calibri (MS)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876532" y="304800"/>
            <a:ext cx="2000536" cy="50988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095"/>
              </a:lnSpc>
            </a:pPr>
            <a:r>
              <a:rPr lang="en-US" sz="3413" spc="-21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References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614305" y="1220743"/>
            <a:ext cx="7822889" cy="1952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1"/>
              </a:lnSpc>
            </a:pPr>
            <a:r>
              <a:rPr lang="en-US" sz="2559" spc="-1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• Research Papers</a:t>
            </a:r>
          </a:p>
          <a:p>
            <a:pPr marL="552703" lvl="1" indent="-276352" algn="l">
              <a:lnSpc>
                <a:spcPts val="3071"/>
              </a:lnSpc>
              <a:buFont typeface="Arial"/>
              <a:buChar char="•"/>
            </a:pPr>
            <a:r>
              <a:rPr lang="en-US" sz="2559" spc="-1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Crime Prediction using Machine Learning (2021)</a:t>
            </a:r>
          </a:p>
          <a:p>
            <a:pPr marL="552703" lvl="1" indent="-276352" algn="l">
              <a:lnSpc>
                <a:spcPts val="3071"/>
              </a:lnSpc>
              <a:buFont typeface="Arial"/>
              <a:buChar char="•"/>
            </a:pPr>
            <a:r>
              <a:rPr lang="en-US" sz="2559" spc="-1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Crime Analysis using Data Mining (2022)</a:t>
            </a:r>
          </a:p>
          <a:p>
            <a:pPr marL="552703" lvl="1" indent="-276352" algn="l">
              <a:lnSpc>
                <a:spcPts val="3071"/>
              </a:lnSpc>
              <a:buFont typeface="Arial"/>
              <a:buChar char="•"/>
            </a:pPr>
            <a:r>
              <a:rPr lang="en-US" sz="2559" spc="-1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ML-based Crime Forecasting (2023)</a:t>
            </a:r>
          </a:p>
          <a:p>
            <a:pPr algn="l">
              <a:lnSpc>
                <a:spcPts val="3071"/>
              </a:lnSpc>
            </a:pPr>
            <a:endParaRPr lang="en-US" sz="2559" spc="-10">
              <a:solidFill>
                <a:srgbClr val="000000"/>
              </a:solidFill>
              <a:latin typeface="Calibri (MS)"/>
              <a:ea typeface="Calibri (MS)"/>
              <a:cs typeface="Calibri (MS)"/>
              <a:sym typeface="Calibri (MS)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38</TotalTime>
  <Words>1107</Words>
  <Application>Microsoft Office PowerPoint</Application>
  <PresentationFormat>Custom</PresentationFormat>
  <Paragraphs>308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Calibri</vt:lpstr>
      <vt:lpstr>TT Rounds Condensed</vt:lpstr>
      <vt:lpstr>Arial</vt:lpstr>
      <vt:lpstr>Calibri (MS)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ML_Project_Implementation_Phase-3_Final.pptx.pptx</dc:title>
  <cp:lastModifiedBy>correianick4@gmail.com</cp:lastModifiedBy>
  <cp:revision>3</cp:revision>
  <dcterms:created xsi:type="dcterms:W3CDTF">2006-08-16T00:00:00Z</dcterms:created>
  <dcterms:modified xsi:type="dcterms:W3CDTF">2026-04-18T04:22:57Z</dcterms:modified>
  <dc:identifier>DAHG10_e144</dc:identifier>
</cp:coreProperties>
</file>